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2　基本面：自算 vs CSMAR 官方比率库（相关系数全部 1.000000）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23952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914400"/>
                <a:gridCol w="1188720"/>
                <a:gridCol w="1188720"/>
                <a:gridCol w="1188720"/>
                <a:gridCol w="1188720"/>
                <a:gridCol w="1097280"/>
                <a:gridCol w="12395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我的指标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CSMAR字段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可比期数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口径换算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相关系数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平均绝对差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最大绝对差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我的中位数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CSMAR中位数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ROE_TTM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CSMAR净资产收益率TTM(%)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CSMAR值/1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毛利率_TTM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CSMAR营业毛利率TTM(%)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CSMAR值/1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0.191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0.191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总资产周转率_TTM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CSMAR总资产周转率TTM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CSMAR值/1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存货周转率_TTM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CSMAR存货周转率TTM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CSMAR值/1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2.271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2.271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资产负债率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CSMAR资产负债率(%)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CSMAR值/1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0.544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流动比率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CSMAR流动比率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CSMAR值/1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0.788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0.788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净现比_TTM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CSMAR净利润现金净含量TTM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CSMAR值/1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1.268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1.268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task2_funda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08960"/>
            <a:ext cx="11430000" cy="114236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</a:rPr>
              <a:t>PIT：公告日对齐 + 法定最晚日兜底；披露时滞中位数 30 天 / 最长 120 天（年报）；亏损期 PE 置 NaN、由 PB 单独承担估值打分。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3864"/>
                </a:solidFill>
                <a:latin typeface="Microsoft YaHei"/>
                <a:ea typeface="Microsoft YaHei"/>
              </a:rPr>
              <a:t>Task 3　基本面月末五分位：不单调，呈 U 型（周期股的本质）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55680" cy="921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914400"/>
                <a:gridCol w="1828800"/>
                <a:gridCol w="1828800"/>
                <a:gridCol w="26517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分组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月末数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未来1个月收益均值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未来1个月收益中位数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未来3个月收益均值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盈利能力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5.282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17.418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盈利能力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0.390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1.832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-0.921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盈利能力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-1.078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-0.945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-0.507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盈利能力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4.426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1.941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6.464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盈利能力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1.275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10.548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偿债能力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0.325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1.415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-0.030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偿债能力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1.366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17.878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偿债能力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2.686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0.331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-1.879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偿债能力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-1.946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4.409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偿债能力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8.399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4.901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19.174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现金流质量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4.210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2.758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7.817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现金流质量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2.046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-0.447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11.609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现金流质量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-2.949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-2.306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-10.085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现金流质量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1.592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0.981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8.663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现金流质量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5.671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15.344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估值水平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10.864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3.104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27.876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估值水平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4.372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4.404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13.183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估值水平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-0.878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-3.577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-7.669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估值水平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2.278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估值水平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1.363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1.097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5.737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基本面择时得分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10.644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基本面择时得分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1.895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2.373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11.410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基本面择时得分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-0.320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-1.845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基本面择时得分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1.315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0.095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5.901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基本面择时得分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2.427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13.484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PE_TTM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12.118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7.446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38.178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PE_TTM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PE_TTM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5.314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3.496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9.526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PE_TTM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-7.786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-5.423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-9.167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PE_TTM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4.116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2.500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10.564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7.949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1.248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17.427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Q2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PB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18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-2.394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-4.119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2.671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3.607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PB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15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-0.124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0.275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7.671</a:t>
                      </a:r>
                    </a:p>
                  </a:txBody>
                  <a:tcPr anchor="ctr">
                    <a:solidFill>
                      <a:srgbClr val="EFF3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Q5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PB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3.616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2.427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B33"/>
                          </a:solidFill>
                          <a:latin typeface="Microsoft YaHei"/>
                          <a:ea typeface="Microsoft YaHei"/>
                        </a:rPr>
                        <a:t>8.834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754880"/>
            <a:ext cx="11155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基本面得分 Q1（最差）未来 1 个月 +5.01%、3 个月 +10.64%；Q5（最好）+4.42%/+13.48%；中间 Q3 最差。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拆开看就明白了：</a:t>
            </a: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PE 最低分位（盈利爆表期）未来 3 个月 +38.18%，估值得分最贵分位（深度亏损期）+27.88%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 —— 周期股的一体两面；运营效率、盈利能力的历史低点是左侧买点；偿债与现金流质量方向与直觉一致。</a:t>
            </a:r>
          </a:p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62B33"/>
                </a:solidFill>
                <a:latin typeface="Microsoft YaHei"/>
                <a:ea typeface="Microsoft YaHei"/>
              </a:rPr>
              <a:t>样本量诚实说明</a:t>
            </a:r>
            <a:r>
              <a:rPr sz="1350" b="0" i="0">
                <a:solidFill>
                  <a:srgbClr val="262B33"/>
                </a:solidFill>
                <a:latin typeface="Microsoft YaHei"/>
                <a:ea typeface="Microsoft YaHei"/>
              </a:rPr>
              <a:t>：每组仅 7~54 个月末，噪声大；分位时间构成显示 Q1 集中在 2018/2019/2022 底部，Q5 集中在 2020/2025 —— 两段不同性质的行情。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