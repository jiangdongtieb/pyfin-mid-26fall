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B33"/>
                </a:solidFill>
                <a:latin typeface="Microsoft YaHei"/>
                <a:ea typeface="Microsoft YaHei"/>
              </a:rPr>
              <a:t>A Technical &amp; Fundamental Timing Framework for A-Share Stocks via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3864"/>
                </a:solidFill>
                <a:latin typeface="Microsoft YaHei"/>
                <a:ea typeface="Microsoft YaHei"/>
              </a:rPr>
              <a:t>牧原股份（002714.SZ）· 12 年全样本检验「择时到底有没有用」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B7280"/>
                </a:solidFill>
                <a:latin typeface="Microsoft YaHei"/>
                <a:ea typeface="Microsoft YaHei"/>
              </a:rPr>
              <a:t>Python in Finance · Fall 2026 · Midterm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</a:rPr>
              <a:t>样本：2014-01-28 ~ 2026-09-30（3057 个交易日 / 51 个报告期）　数据：CSMAR + 东方财富公开接口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</a:rPr>
              <a:t>Presented by 小组全体　|　12 min（14 min max）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</a:rPr>
              <a:t>我们干了什么：一句话路线图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B33"/>
                </a:solidFill>
                <a:latin typeface="Microsoft YaHei"/>
                <a:ea typeface="Microsoft YaHei"/>
              </a:rPr>
              <a:t>题目一句话：</a:t>
            </a:r>
            <a:r>
              <a:rPr sz="1500" b="1" i="0">
                <a:solidFill>
                  <a:srgbClr val="262B33"/>
                </a:solidFill>
                <a:latin typeface="Microsoft YaHei"/>
                <a:ea typeface="Microsoft YaHei"/>
              </a:rPr>
              <a:t>给一只 A 股股票搭「技术面 + 基本面」两套择时框架，再用它上市以来全部历史检验这两套框架能不能预测未来收益，最后给出评级与预期收益分布。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1920240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01 框架设计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810512"/>
            <a:ext cx="9052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B33"/>
                </a:solidFill>
                <a:latin typeface="Microsoft YaHei"/>
                <a:ea typeface="Microsoft YaHei"/>
              </a:rPr>
              <a:t>调研同花顺/通联诊股 + 5 家券商研报 + 4 篇文献，设计「相对自身历史百分位 + 严格 PIT」的框架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96312"/>
            <a:ext cx="1920240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02 数据与清洗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523744"/>
            <a:ext cx="9052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B33"/>
                </a:solidFill>
                <a:latin typeface="Microsoft YaHei"/>
                <a:ea typeface="Microsoft YaHei"/>
              </a:rPr>
              <a:t>CSMAR 财报 + 东财行情；自建复权因子并与两个数据源逐日交叉验证（相关系数 1.000000）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09544"/>
            <a:ext cx="1920240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03 技术面 Task1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236975"/>
            <a:ext cx="9052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B33"/>
                </a:solidFill>
                <a:latin typeface="Microsoft YaHei"/>
                <a:ea typeface="Microsoft YaHei"/>
              </a:rPr>
              <a:t>MA / 动量 / 量价三类 13 个信号 + RSI/MACD/布林等 6 个进阶指标，0/1 与 expanding 百分位双打分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22776"/>
            <a:ext cx="1920240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04 基本面 Task2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950208"/>
            <a:ext cx="9052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B33"/>
                </a:solidFill>
                <a:latin typeface="Microsoft YaHei"/>
                <a:ea typeface="Microsoft YaHei"/>
              </a:rPr>
              <a:t>六维度 14 个指标 + 养殖专属指标；公告日 PIT 对齐（不做会 51/51 期前视）；与 CSMAR 比率库交叉验证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636008"/>
            <a:ext cx="1920240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05 检验 Task3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663440"/>
            <a:ext cx="9052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B33"/>
                </a:solidFill>
                <a:latin typeface="Microsoft YaHei"/>
                <a:ea typeface="Microsoft YaHei"/>
              </a:rPr>
              <a:t>两分组/五分位/净值回测/Newey-West/分时段/权重网格 → 中性评级 + 1/3 个月收益分布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349240"/>
            <a:ext cx="1920240" cy="566928"/>
          </a:xfrm>
          <a:prstGeom prst="rect">
            <a:avLst/>
          </a:prstGeom>
          <a:solidFill>
            <a:srgbClr val="1E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06 结论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5376672"/>
            <a:ext cx="9052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B33"/>
                </a:solidFill>
                <a:latin typeface="Microsoft YaHei"/>
                <a:ea typeface="Microsoft YaHei"/>
              </a:rPr>
              <a:t>技术面 20 日以上有效；基本面 U 型；跑不赢买入持有但显著降回撤；统计上不显著——诚实报告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</a:rPr>
              <a:t>Task 0　先看别人怎么做：三家工具 / 五家券商 / 四篇文献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111556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108960"/>
                <a:gridCol w="594360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来源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结论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关键内容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同花顺 AI 诊股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综合 6.0/60 分（打败 93%），评级「增持」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技术 7.00 / 基本面 5.70 / 资金 5.70 / 消息 5.50 / 行业 3.10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通联数据智能诊股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综合 45 分（打败 31%）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「基本面欠佳」「距离目标价还有 21.79% 空间」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开源证券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买入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2026-28 归母净利 -13.59 / 292.11 / 366.42 亿；EPS -0.24 / 5.06 / 6.35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兴业证券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增持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2026 EPS -0.66（同一份中报，两家券商预测差 25 亿）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华泰证券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2025 完全成本 12 元/kg vs 行业 13.7，头均盈利领先 177 元；2025 分红 74.38 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天风 / 长江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首推 / 看好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产能去化明确、猪价拐点临近；一致强调成本 + 现金流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Murphy / J&amp;T / Novy-Marx / Sloan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文献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趋势与量价 / 动量与短期反转 / 毛利率 / 现金流质量（应计异象）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892040"/>
            <a:ext cx="11155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62B33"/>
                </a:solidFill>
                <a:latin typeface="Microsoft YaHei"/>
                <a:ea typeface="Microsoft YaHei"/>
              </a:rPr>
              <a:t>共同缺点：不给历史证据。</a:t>
            </a:r>
            <a:r>
              <a:rPr sz="1350" b="0" i="0">
                <a:solidFill>
                  <a:srgbClr val="262B33"/>
                </a:solidFill>
                <a:latin typeface="Microsoft YaHei"/>
                <a:ea typeface="Microsoft YaHei"/>
              </a:rPr>
              <a:t> 两家 AI 工具对同一只股票同一天给出 60 分 vs 45 分，且只给「当下评级」，不回答「过去出现同样评级之后，未来一个月的胜率是多少」。卖方研报给目标价与评级，但完全不做择时，盈利预测高度依赖猪价假设。</a:t>
            </a:r>
          </a:p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62B33"/>
                </a:solidFill>
                <a:latin typeface="Microsoft YaHei"/>
                <a:ea typeface="Microsoft YaHei"/>
              </a:rPr>
              <a:t>我们的对策：全部分数用「相对自身历史的 expanding 百分位」（适配猪周期），严格 PIT，用 12 年数据回测 + Newey-West 显著性，输出分布而不是点。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</a:rPr>
              <a:t>Task 0　我们的框架：三个核心取舍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</a:rPr>
              <a:t>完整框架设计表见报告附录 A（11 个维度 × 公式 × 数据字段 × 预期符号）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62B33"/>
                </a:solidFill>
                <a:latin typeface="Microsoft YaHei"/>
                <a:ea typeface="Microsoft YaHei"/>
              </a:rPr>
              <a:t>取舍一：分数 = 相对自身历史的 expanding 百分位（0-100）</a:t>
            </a:r>
            <a:r>
              <a:rPr sz="1400" b="0" i="0">
                <a:solidFill>
                  <a:srgbClr val="262B33"/>
                </a:solidFill>
                <a:latin typeface="Microsoft YaHei"/>
                <a:ea typeface="Microsoft YaHei"/>
              </a:rPr>
              <a:t>，不做行业横向比较。猪周期下牧原 ROE 从 -20% 摆到 +60%，横向比较毫无意义；只有和它自己比才能定位周期位置。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62B33"/>
                </a:solidFill>
                <a:latin typeface="Microsoft YaHei"/>
                <a:ea typeface="Microsoft YaHei"/>
              </a:rPr>
              <a:t>取舍二：严格 Point-in-Time。</a:t>
            </a:r>
            <a:r>
              <a:rPr sz="1400" b="0" i="0">
                <a:solidFill>
                  <a:srgbClr val="262B33"/>
                </a:solidFill>
                <a:latin typeface="Microsoft YaHei"/>
                <a:ea typeface="Microsoft YaHei"/>
              </a:rPr>
              <a:t> 每份财报只在公告日（CSMAR IAR_Rept.Annodt）当天及之后可用；估值市值取公告日当天。</a:t>
            </a:r>
            <a:r>
              <a:rPr sz="1400" b="1" i="0">
                <a:solidFill>
                  <a:srgbClr val="262B33"/>
                </a:solidFill>
                <a:latin typeface="Microsoft YaHei"/>
                <a:ea typeface="Microsoft YaHei"/>
              </a:rPr>
              <a:t>不做 PIT 的代价被量化：51/51 个报告期都会提前看到数据</a:t>
            </a:r>
            <a:r>
              <a:rPr sz="1400" b="0" i="0">
                <a:solidFill>
                  <a:srgbClr val="262B33"/>
                </a:solidFill>
                <a:latin typeface="Microsoft YaHei"/>
                <a:ea typeface="Microsoft YaHei"/>
              </a:rPr>
              <a:t>（年报最长滞后 120 天）。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62B33"/>
                </a:solidFill>
                <a:latin typeface="Microsoft YaHei"/>
                <a:ea typeface="Microsoft YaHei"/>
              </a:rPr>
              <a:t>取舍三：周期股专属指标。</a:t>
            </a:r>
            <a:r>
              <a:rPr sz="1400" b="0" i="0">
                <a:solidFill>
                  <a:srgbClr val="262B33"/>
                </a:solidFill>
                <a:latin typeface="Microsoft YaHei"/>
                <a:ea typeface="Microsoft YaHei"/>
              </a:rPr>
              <a:t> 六维度之外加生产性生物资产（能繁母猪）、存货占比、自由现金流、有息负债率——2026 年研报反复强调的「资本开支纪律」（全年压到 100 亿以内）被量化进自由现金流。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62B33"/>
                </a:solidFill>
                <a:latin typeface="Microsoft YaHei"/>
                <a:ea typeface="Microsoft YaHei"/>
              </a:rPr>
              <a:t>技术面三类（等权）：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977639"/>
          <a:ext cx="111556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6949440"/>
                <a:gridCol w="274320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类别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预期符号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MA 规则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MA5/20、MA10/60、MA20/120、MA60/250 + 均线缺口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+（趋势跟随）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动量规则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20/60/120/250 日动量（J&amp;T 1993 窗口）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+（1 日预期反转）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量价规则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VWMA5/30、VWMA10/60、20/60 日均量比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+（量在价先）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进阶（加分）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RSI14、MACD(12,26,9)、布林 %B、BIAS20、20日波动率(反向)、相对沪深300超额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见报告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5394960"/>
          <a:ext cx="1115568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94944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基本面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规则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盈利 / 成长 / 偿债 / 运营 / 现金流质量 / 估值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六维度等权合成基本面择时得分（估值与负债率反向）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复合得分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 × 技术面 + 0.5 × 基本面（题目 baseline，夏普最优权重，网格验证）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