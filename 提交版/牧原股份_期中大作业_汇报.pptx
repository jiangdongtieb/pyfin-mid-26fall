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86" r:id="rId4"/>
    <p:sldId id="267" r:id="rId5"/>
    <p:sldId id="268" r:id="rId7"/>
    <p:sldId id="258" r:id="rId8"/>
    <p:sldId id="269" r:id="rId9"/>
    <p:sldId id="270" r:id="rId10"/>
    <p:sldId id="271" r:id="rId11"/>
    <p:sldId id="272" r:id="rId12"/>
    <p:sldId id="287" r:id="rId13"/>
    <p:sldId id="273" r:id="rId14"/>
    <p:sldId id="274" r:id="rId15"/>
    <p:sldId id="275" r:id="rId16"/>
    <p:sldId id="276" r:id="rId17"/>
    <p:sldId id="277" r:id="rId18"/>
    <p:sldId id="278" r:id="rId19"/>
    <p:sldId id="28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9" r:id="rId28"/>
    <p:sldId id="257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得分</c:f>
              <c:strCache>
                <c:ptCount val="1"/>
                <c:pt idx="0">
                  <c:v>得分</c:v>
                </c:pt>
              </c:strCache>
            </c:strRef>
          </c:tx>
          <c:spPr>
            <a:solidFill>
              <a:srgbClr val="147F89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193A50"/>
              </a:solidFill>
            </c:spPr>
          </c:dPt>
          <c:dPt>
            <c:idx val="1"/>
            <c:invertIfNegative val="0"/>
            <c:bubble3D val="0"/>
            <c:spPr>
              <a:solidFill>
                <a:srgbClr val="193A50"/>
              </a:solidFill>
            </c:spPr>
          </c:dPt>
          <c:dPt>
            <c:idx val="2"/>
            <c:invertIfNegative val="0"/>
            <c:bubble3D val="0"/>
            <c:spPr>
              <a:solidFill>
                <a:srgbClr val="193A50"/>
              </a:solidFill>
            </c:spPr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  <c:spPr>
              <a:solidFill>
                <a:srgbClr val="193A50"/>
              </a:solidFill>
            </c:spPr>
          </c:dPt>
          <c:dPt>
            <c:idx val="5"/>
            <c:invertIfNegative val="0"/>
            <c:bubble3D val="0"/>
            <c:spPr>
              <a:solidFill>
                <a:srgbClr val="C57B45"/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575" b="0" i="0" u="none" strike="noStrike" kern="1200" baseline="0">
                    <a:solidFill>
                      <a:srgbClr val="193A5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Data'!$A$2:$A$7</c:f>
              <c:strCache>
                <c:ptCount val="6"/>
                <c:pt idx="0">
                  <c:v>盈利能力</c:v>
                </c:pt>
                <c:pt idx="1">
                  <c:v>成长能力</c:v>
                </c:pt>
                <c:pt idx="2">
                  <c:v>偿债能力</c:v>
                </c:pt>
                <c:pt idx="3">
                  <c:v>运营效率</c:v>
                </c:pt>
                <c:pt idx="4">
                  <c:v>现金流质量</c:v>
                </c:pt>
                <c:pt idx="5">
                  <c:v>估值水平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13.96</c:v>
                </c:pt>
                <c:pt idx="1">
                  <c:v>10.01</c:v>
                </c:pt>
                <c:pt idx="2">
                  <c:v>39.87</c:v>
                </c:pt>
                <c:pt idx="3">
                  <c:v>89.36</c:v>
                </c:pt>
                <c:pt idx="4">
                  <c:v>38.19</c:v>
                </c:pt>
                <c:pt idx="5">
                  <c:v>98.04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75" b="0" i="0" u="none" strike="noStrike" kern="1200" baseline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10"/>
          <c:min val="0"/>
        </c:scaling>
        <c:delete val="0"/>
        <c:axPos val="b"/>
        <c:majorGridlines>
          <c:spPr>
            <a:ln w="6668" cap="flat" cmpd="sng" algn="ctr">
              <a:solidFill>
                <a:srgbClr val="DDE5EA"/>
              </a:solidFill>
              <a:prstDash val="solid"/>
              <a:round/>
            </a:ln>
          </c:spPr>
        </c:majorGridlines>
        <c:numFmt formatCode="0.00" sourceLinked="1"/>
        <c:majorTickMark val="none"/>
        <c:minorTickMark val="none"/>
        <c:tickLblPos val="nextTo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</c:spPr>
    </c:plotArea>
    <c:plotVisOnly val="1"/>
    <c:dispBlanksAs val="zero"/>
    <c:showDLblsOverMax val="1"/>
    <c:extLst>
      <c:ext uri="{0b15fc19-7d7d-44ad-8c2d-2c3a37ce22c3}">
        <chartProps xmlns="https://web.wps.cn/et/2018/main" chartId="{3e71fe9c-3cf2-483e-bd87-a0d8060b674c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未来 1 个月</c:f>
              <c:strCache>
                <c:ptCount val="1"/>
                <c:pt idx="0">
                  <c:v>未来 1 个月</c:v>
                </c:pt>
              </c:strCache>
            </c:strRef>
          </c:tx>
          <c:spPr>
            <a:solidFill>
              <a:srgbClr val="147F8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25" b="0" i="0" u="none" strike="noStrike" kern="1200" baseline="0">
                    <a:solidFill>
                      <a:srgbClr val="193A5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'Chart Data'!$B$2:$B$6</c:f>
              <c:numCache>
                <c:formatCode>0.00%</c:formatCode>
                <c:ptCount val="5"/>
                <c:pt idx="0">
                  <c:v>0.0501</c:v>
                </c:pt>
                <c:pt idx="1">
                  <c:v>0.0189</c:v>
                </c:pt>
                <c:pt idx="2">
                  <c:v>0.0023</c:v>
                </c:pt>
                <c:pt idx="3">
                  <c:v>0.0132</c:v>
                </c:pt>
                <c:pt idx="4">
                  <c:v>0.0442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ser>
          <c:idx val="1"/>
          <c:order val="1"/>
          <c:tx>
            <c:strRef>
              <c:f>未来 3 个月</c:f>
              <c:strCache>
                <c:ptCount val="1"/>
                <c:pt idx="0">
                  <c:v>未来 3 个月</c:v>
                </c:pt>
              </c:strCache>
            </c:strRef>
          </c:tx>
          <c:spPr>
            <a:solidFill>
              <a:srgbClr val="C57B4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25" b="0" i="0" u="none" strike="noStrike" kern="1200" baseline="0">
                    <a:solidFill>
                      <a:srgbClr val="193A5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Data'!$C$2:$C$6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'Chart Data'!$D$2:$D$6</c:f>
              <c:numCache>
                <c:formatCode>0.00%</c:formatCode>
                <c:ptCount val="5"/>
                <c:pt idx="0">
                  <c:v>0.1064</c:v>
                </c:pt>
                <c:pt idx="1">
                  <c:v>0.1141</c:v>
                </c:pt>
                <c:pt idx="2">
                  <c:v>-0.0185</c:v>
                </c:pt>
                <c:pt idx="3">
                  <c:v>0.059</c:v>
                </c:pt>
                <c:pt idx="4">
                  <c:v>0.1348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16"/>
          <c:min val="-0.04"/>
        </c:scaling>
        <c:delete val="0"/>
        <c:axPos val="l"/>
        <c:majorGridlines>
          <c:spPr>
            <a:ln w="6668" cap="flat" cmpd="sng" algn="ctr">
              <a:solidFill>
                <a:srgbClr val="DDE5EA"/>
              </a:solidFill>
              <a:prstDash val="solid"/>
              <a:round/>
            </a:ln>
          </c:spPr>
        </c:majorGridlines>
        <c:numFmt formatCode="0.00%" sourceLinked="1"/>
        <c:majorTickMark val="none"/>
        <c:minorTickMark val="none"/>
        <c:tickLblPos val="nextTo"/>
        <c:spPr>
          <a:ln w="9525" cap="flat" cmpd="sng" algn="ctr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0.04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500" b="0" i="0" u="none" strike="noStrike" kern="1200" baseline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defRPr>
          </a:pPr>
        </a:p>
      </c:txPr>
    </c:legend>
    <c:plotVisOnly val="1"/>
    <c:dispBlanksAs val="zero"/>
    <c:showDLblsOverMax val="1"/>
    <c:extLst>
      <c:ext uri="{0b15fc19-7d7d-44ad-8c2d-2c3a37ce22c3}">
        <chartProps xmlns="https://web.wps.cn/et/2018/main" chartId="{5b1ca4a8-9bdf-4a34-9c30-ec9aa2291ad6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A4B81F-F3F3-4CD1-B195-B819688548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3E16E0-EDE2-498D-97BE-560114F4C68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资料来源：小组报告、成员报告与原PPT。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资料来源：同花顺牛叉诊股、通联数据智能诊股、券商研报及 Murphy (1999)、Jegadeesh &amp; Titman (1993)、Novy-Marx (2013)、Sloan (1996)、Fama &amp; French (1992)。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来源：小组报告附录 A 表 A1。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来源：小组报告附录 A 表 A1。基本面六个维度等权合成。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来源：小组报告第 2.1 节、成员报告第 2.1 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来源：小组报告表 2、成员报告第 2.2 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来源：小组报告第 2.3—2.5 节、成员报告第 2.3—2.5 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dirty="0">
                <a:solidFill>
                  <a:srgbClr val="2D35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各位老师好，我汇报的是 Task 1 技术面择时指标。我们以牧原股份为研究对象，先把日频价格与成交量转换成趋势、动量和量价信号，再形成技术面得分，供后续收益检验使用。下面按指标构造、评分方法、描述性统计和图形结果依次说明。</a:t>
            </a:r>
            <a:endParaRPr lang="zh-CN" sz="1400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dirty="0">
                <a:solidFill>
                  <a:srgbClr val="2D35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来源：小组报告Task 1、task1_summary_stats.csv、task1_signal_hit_rate.csv；图一沿用报告原图。</a:t>
            </a:r>
            <a:endParaRPr lang="zh-CN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dirty="0">
                <a:solidFill>
                  <a:srgbClr val="2D35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我负责的是 Task 1 技术面择时指标。样本是牧原股份 2014 年 1 月 28 日至 2026 年 9 月 30 日的 3057 个交易日，价格统一使用后复权收盘价。指标分成均线、动量和量价三类：均线比较短期和长期趋势，动量看过去一段时间的累计涨跌，量价指标把成交量纳入比较。三类合计 11 个核心信号，另外用 RSI、MACD 和布林中轨作为 3 个辅助信号。满足条件记 1，否则记 0。</a:t>
            </a:r>
            <a:endParaRPr lang="zh-CN" sz="1400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dirty="0">
                <a:solidFill>
                  <a:srgbClr val="2D35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来源：小组报告Task 1、task1_summary_stats.csv、task1_signal_hit_rate.csv；图一沿用报告原图。</a:t>
            </a:r>
            <a:endParaRPr lang="zh-CN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dirty="0">
                <a:solidFill>
                  <a:srgbClr val="2D35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核心信号先在各自类别内取平均，再让均线、动量和量价各占三分之一，得到 0 到 100 的技术面得分。这样不会因为某一类的信号数量更多而改变类别权重。对均线缺口、动量、RSI 等连续指标，我们还用扩展窗口计算截至当日的历史百分位；波动率采用反向百分位。扩展得分由 75% 的技术面得分和 25% 的连续指标均值组成，供后续检验作对照。</a:t>
            </a:r>
            <a:endParaRPr lang="zh-CN" sz="1400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dirty="0">
                <a:solidFill>
                  <a:srgbClr val="2D35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来源：小组报告Task 1、task1_summary_stats.csv、task1_signal_hit_rate.csv；图一沿用报告原图。</a:t>
            </a:r>
            <a:endParaRPr lang="zh-CN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dirty="0">
                <a:solidFill>
                  <a:srgbClr val="2D35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表三给出各指标的描述性统计。技术面得分均值为 54.28，中位数为 55.56，20% 和 75% 分位分别为 25.00 和 80.56，说明样本中存在较明显的技术状态差异。20 日年化波动率均值为 40.60%，最高达到 140.44%，不同阶段的风险水平差别较大。这里的统计用于了解指标分布，不直接等同于收益预测；收益率、波动率等数值也按表下注释区分单位。</a:t>
            </a:r>
            <a:endParaRPr lang="zh-CN" sz="1400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dirty="0">
                <a:solidFill>
                  <a:srgbClr val="2D35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来源：小组报告Task 1、task1_summary_stats.csv、task1_signal_hit_rate.csv；图一沿用报告原图。</a:t>
            </a:r>
            <a:endParaRPr lang="zh-CN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dirty="0">
                <a:solidFill>
                  <a:srgbClr val="2D35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表四统计 14 个信号为 1 的交易日比例。250 日动量最高，为 61.33%；20/60 日均量比最低，为 46.39%。均线和动量信号放在左侧，量价及辅助信号放在右侧。这个比例表示条件出现的频率，不是收益胜率。原始输出中窗口不足的日期按 0 计入，因此正式的收益检验还要按最长窗口剔除预热期。</a:t>
            </a:r>
            <a:endParaRPr lang="zh-CN" sz="1400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dirty="0">
                <a:solidFill>
                  <a:srgbClr val="2D35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来源：小组报告Task 1、task1_summary_stats.csv、task1_signal_hit_rate.csv；图一沿用报告原图。</a:t>
            </a:r>
            <a:endParaRPr lang="zh-CN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dirty="0">
                <a:solidFill>
                  <a:srgbClr val="2D35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最后看图一。上方是后复权价格和均线，下面依次是技术面得分、RSI 和 20/60 日均量比。上涨阶段，均线与动量信号通常同时转强，得分也会提高；震荡阶段，得分和 RSI 会反复变化，需要结合成交量判断。阴影对应 MA20 不低于 MA120 且 60 日动量非负的区间。Task 1 输出的是完整指标和得分，下一部分再检验不同状态下的未来收益。</a:t>
            </a:r>
            <a:endParaRPr lang="zh-CN" sz="1400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dirty="0">
                <a:solidFill>
                  <a:srgbClr val="2D35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来源：小组报告Task 1、task1_summary_stats.csv、task1_signal_hit_rate.csv；图一沿用报告原图。</a:t>
            </a:r>
            <a:endParaRPr lang="zh-CN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25 秒，累计 0:25。</a:t>
            </a:r>
          </a:p>
          <a:p/>
          <a:p>
            <a:r>
              <a:t>接着上一位同学的技术面分析，我负责基本面部分，回答牧原的经营状态和估值处在自身历史的什么位置。输入是技术面日频面板和九张 CSMAR 表，输出季度指标以及交给下一位同学的日频得分。代码由基本面框架统一运行，Notebook 包含完整实现，可以独立重跑，旁边的 Python 文件便于查阅和复用。</a:t>
            </a:r>
          </a:p>
          <a:p/>
          <a:p>
            <a:r>
              <a:t>数据来源与口径：</a:t>
            </a:r>
          </a:p>
          <a:p>
            <a:r>
              <a:t>3/我的代码/我的代码.ipynb 读取输入与运行导出单元。九张CSMAR表中FI_T8保留为输入，但当前评分与交叉核验不使用它。Notebook不依赖导入外部模块。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40 秒，累计 1:05。</a:t>
            </a:r>
          </a:p>
          <a:p/>
          <a:p>
            <a:r>
              <a:t>首先统一报表口径。代码筛选 A 类合并报表，避免混入母公司报表，再保留标准报告期并处理重复记录，得到五十一个季度。利润和现金流是年内累计数，不能把半年报直接当成第二季度。因此第二季度要用半年累计减一季度，之后滚动四个单季得到 TTM。代码还要求四个值全部有效。资产负债表是期末存量，不做差分，ROE 等指标的平均分母取本期末和四期前期末的均值。</a:t>
            </a:r>
          </a:p>
          <a:p/>
          <a:p>
            <a:r>
              <a:t>数据来源与口径：</a:t>
            </a:r>
          </a:p>
          <a:p>
            <a:r>
              <a:t>3/我的代码/fundamental_framework.py：_clean_statement、_cumulative_to_single、_ttm、to_single_and_ttm。标准日期筛选使用季度月份与30/31日，本批保留日期均为季度末。首行2013年报作为初值，早期滚动流量单季基础不完整，2014年完整四季之后口径正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25 秒，累计 1:30。</a:t>
            </a:r>
          </a:p>
          <a:p/>
          <a:p>
            <a:r>
              <a:t>指标分为盈利、成长、偿债、运营、现金流和估值六个维度，共十五项参与评分。例如，ROE 用归母净利润除以平均归母权益，分子和分母保持一致。盈利和周转率预设为正向，负债率、PE 和 PB 为反向。生物资产占比等额外指标用于辅助解释。这里的高低都是与牧原自身历史比较。</a:t>
            </a:r>
          </a:p>
          <a:p/>
          <a:p>
            <a:r>
              <a:t>数据来源与口径：</a:t>
            </a:r>
          </a:p>
          <a:p>
            <a:r>
              <a:t>3/我的代码/fundamental_framework.py：DIMENSIONS、to_single_and_ttm、build_dimension_scores。20 个非估值指标、2 个估值指标，15 个参与评分。PE 40 个有效值，11 个缺失值包含预热期。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35 秒，累计 2:05。</a:t>
            </a:r>
          </a:p>
          <a:p/>
          <a:p>
            <a:r>
              <a:t>评分的核心是 expanding rank，也就是只使用截至当期的观测计算历史分位，至少需要八个有效值。正向指标直接取分位，反向指标用一百减分位。之后先在维度内平均，再对六个维度平均。这里要注意，mean 会跳过缺失值，因此四十四期有综合分，但只有四十期六个维度全部完整。最新 PB 的原始分位是百分之一点九六，翻转后就是九十八点零四分。</a:t>
            </a:r>
          </a:p>
          <a:p/>
          <a:p>
            <a:r>
              <a:t>数据来源与口径：</a:t>
            </a:r>
          </a:p>
          <a:p>
            <a:r>
              <a:t>3/我的代码/fundamental_framework.py：expanding_pct、build_dimension_scores。当前Pandas使用expanding.rank平均秩处理并列，包含当前期。旧Pandas的AttributeError兼容分支保留原实现。最新PB得分98.03921568627452，原始分位1.96078431372548%。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35 秒，累计 3:25。</a:t>
            </a:r>
          </a:p>
          <a:p/>
          <a:p>
            <a:r>
              <a:t>我们还把自算结果和 CSMAR 官方比率逐期比较。七项指标中，六项在六位小数精度内吻合。ROE 的相关系数约零点九九二，差异来自配对口径：我们用归母净利润和归母权益，而对照列对应合并净利润和权益合计。换成后一公式，最大差降到五乘十的负七次方以内。这支持公式的一致性，但不能证明日频时点正确，也不能证明信号有预测能力。</a:t>
            </a:r>
          </a:p>
          <a:p/>
          <a:p>
            <a:r>
              <a:t>数据来源与口径：</a:t>
            </a:r>
          </a:p>
          <a:p>
            <a:r>
              <a:t>3/我的代码/输出/task2_cross_check_csmar_ratios.csv。比率差异小数形式：ROE MAD=0.022839 即约2.284个百分点。Notebook 最后审计单元给出1181天和合并口径ROE残差。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45 秒，累计 4:10。</a:t>
            </a:r>
          </a:p>
          <a:p/>
          <a:p>
            <a:r>
              <a:t>最新报告期是二零二六年六月末，公告日是八月二十一日。盈利和成长分别只有十三点九六分、十点零一分，运营效率较高，而估值得分接近九十八。综合分四十八点二四，剔除估值后只有三十八点二八，说明低估值提高了总分。现金流也要区分期间：上半年经营现金流为负二十二点二四亿元，滚动四季仍为正一百零四点八二亿元。我的判断是经营承压、估值较低，低 PB 还不足以确认盈利拐点。</a:t>
            </a:r>
          </a:p>
          <a:p/>
          <a:p>
            <a:r>
              <a:t>数据来源与口径：</a:t>
            </a:r>
          </a:p>
          <a:p>
            <a:r>
              <a:t>3/我的代码/输出/quarterly_indicators.csv 最后一行；数据/fs_comscfd.csv 合并口径 2026-06-30 C001000000=-2223668382.68。TTM 经营现金流=10481708592.39。PB 原始分位=100-98.03921568627452。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30 秒，累计 4:40。</a:t>
            </a:r>
          </a:p>
          <a:p/>
          <a:p>
            <a:r>
              <a:t>最后，我向下一位同学交付综合分、六维分数以及剔除估值的分数。既有分组结果中，低分组和高分组的三个月收益都高于中间组，呈现非单调关系。但考虑到日频前视偏差、收益重叠和样本量差异，暂时不能把低分解释为买点。后续需要统一修正公告时点，再检验技术面与基本面组合是否有效。下面交给下一位同学。</a:t>
            </a:r>
          </a:p>
          <a:p/>
          <a:p>
            <a:r>
              <a:t>数据来源与口径：</a:t>
            </a:r>
          </a:p>
          <a:p>
            <a:r>
              <a:t>4/我的代码/输出/task3_fundamental_quintiles.csv，指标=基本面择时得分。图内值保留两位小数；用于历史描述。原始回测因子使用报告期末填充，不能称为PIT安全收益。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8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3.xml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4.xml"/><Relationship Id="rId1" Type="http://schemas.openxmlformats.org/officeDocument/2006/relationships/chart" Target="../charts/char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6.xml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506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0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牧原股份（</a:t>
            </a:r>
            <a:r>
              <a:rPr lang="en-US" altLang="zh-CN" sz="30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002714.SZ</a:t>
            </a:r>
            <a:r>
              <a:rPr lang="zh-CN" altLang="en-US" sz="30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）技术面与基本面择时研究</a:t>
            </a:r>
            <a:endParaRPr sz="30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牧原股份（002714.SZ）· 12 年全样本（2015-02 ~ 2026-09，2807 个交易日）</a:t>
            </a:r>
            <a:endParaRPr sz="16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2366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小组成员：徐润璋（</a:t>
            </a:r>
            <a:r>
              <a:rPr lang="en-US" altLang="zh-CN" sz="14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Task 0 + </a:t>
            </a:r>
            <a:r>
              <a:rPr lang="zh-CN" altLang="en-US" sz="14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数据）｜林博（</a:t>
            </a:r>
            <a:r>
              <a:rPr lang="en-US" altLang="zh-CN" sz="14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Task 1 </a:t>
            </a:r>
            <a:r>
              <a:rPr lang="zh-CN" altLang="en-US" sz="14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技术面）｜王浩哲（</a:t>
            </a:r>
            <a:r>
              <a:rPr lang="en-US" altLang="zh-CN" sz="14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Task 2 </a:t>
            </a:r>
            <a:r>
              <a:rPr lang="zh-CN" altLang="en-US" sz="14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基本面）｜张涵（</a:t>
            </a:r>
            <a:r>
              <a:rPr lang="en-US" altLang="zh-CN" sz="14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Task 3 </a:t>
            </a:r>
            <a:r>
              <a:rPr lang="zh-CN" altLang="en-US" sz="14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检验与建议）</a:t>
            </a:r>
            <a:endParaRPr sz="14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10515600" cy="1463040"/>
          </a:xfrm>
          <a:prstGeom prst="rect">
            <a:avLst/>
          </a:prstGeom>
          <a:solidFill>
            <a:srgbClr val="EFF3FA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60520"/>
            <a:ext cx="10058400" cy="718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分工：徐润璋（</a:t>
            </a:r>
            <a:r>
              <a:rPr lang="en-US" altLang="zh-CN"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Task 0 </a:t>
            </a:r>
            <a:r>
              <a:rPr lang="zh-CN" altLang="en-US"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参考调研与框架设计、数据获取与清洗）→ 林博（</a:t>
            </a:r>
            <a:r>
              <a:rPr lang="en-US" altLang="zh-CN"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Task 1 </a:t>
            </a:r>
            <a:r>
              <a:rPr lang="zh-CN" altLang="en-US"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技术面择时指标）→ 王浩哲（</a:t>
            </a:r>
            <a:r>
              <a:rPr lang="en-US" altLang="zh-CN"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Task 2 </a:t>
            </a:r>
            <a:r>
              <a:rPr lang="zh-CN" altLang="en-US"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基本面择时指标）→ 张涵（</a:t>
            </a:r>
            <a:r>
              <a:rPr lang="en-US" altLang="zh-CN"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Task 3 </a:t>
            </a:r>
            <a:r>
              <a:rPr lang="zh-CN" altLang="en-US"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有效性检验、投资建议与交付）</a:t>
            </a:r>
            <a:endParaRPr lang="zh-CN" altLang="en-US" sz="1300" b="1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产出：信号有效性证据 → 回测绩效 → 显著性检验 → 评级与 </a:t>
            </a:r>
            <a:r>
              <a:rPr lang="en-US" altLang="zh-CN"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1/3 </a:t>
            </a:r>
            <a:r>
              <a:rPr lang="zh-CN" altLang="en-US"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个月预期收益 → 建议卡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25500" y="2540000"/>
            <a:ext cx="10541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第一部分　徐润璋（</a:t>
            </a:r>
            <a:r>
              <a:rPr lang="en-US" alt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Task 0 + </a:t>
            </a:r>
            <a:r>
              <a:rPr lang="zh-CN" altLang="en-US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数据获取与清洗）</a:t>
            </a:r>
            <a:endParaRPr lang="zh-CN" altLang="en-US"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0900" y="3378200"/>
            <a:ext cx="1041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参考来源调研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研究框架设计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CSMAR /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东财行情接入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复权价格重建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清洗规则与可用时点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牧原股份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353312"/>
            <a:ext cx="621792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研究框架与数据处理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585216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技术面与基本面择时研究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" y="2651760"/>
            <a:ext cx="4846320" cy="0"/>
          </a:xfrm>
          <a:prstGeom prst="line">
            <a:avLst/>
          </a:prstGeom>
          <a:noFill/>
          <a:ln w="27940">
            <a:solidFill>
              <a:srgbClr val="4BAC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063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样本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3026664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2014-01-28 至 2026-09-30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35844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规模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3547872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3057 个交易日 · 51 个报告期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13232" y="410565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任务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4069080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资料调研、框架设计、数据获取与清洗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98080" y="0"/>
            <a:ext cx="469087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105156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002714.SZ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8028432" y="2514600"/>
            <a:ext cx="3337560" cy="1554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参考资料与指标框架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数据来源与交叉验证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复权、清洗与公告日对齐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28432" y="4617720"/>
            <a:ext cx="3383280" cy="7498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8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输出：可用于指标计算和回测的日度面板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28432" y="5989320"/>
            <a:ext cx="3337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DE9E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Python in Finance · Fall 2026</a:t>
            </a:r>
            <a:endParaRPr lang="en-US" sz="1200" dirty="0"/>
          </a:p>
        </p:txBody>
      </p:sp>
      <p:sp>
        <p:nvSpPr>
          <p:cNvPr id="14" name="文本框 13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资料来源与研究问题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950976"/>
            <a:ext cx="109728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34747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600200" cy="742950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71016"/>
            <a:ext cx="1453896" cy="6697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资料类型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1234440"/>
            <a:ext cx="3657600" cy="742950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9152" y="1271016"/>
            <a:ext cx="3511296" cy="6697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提供的信息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1234440"/>
            <a:ext cx="5577840" cy="742950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16752" y="1271016"/>
            <a:ext cx="5431536" cy="6697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使用时的限制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1977390"/>
            <a:ext cx="1600200" cy="74295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013966"/>
            <a:ext cx="1453896" cy="6697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AI 诊股工具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86000" y="1977390"/>
            <a:ext cx="3657600" cy="74295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2013966"/>
            <a:ext cx="3511296" cy="6697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综合评分、技术面与基本面判断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0" y="1977390"/>
            <a:ext cx="5577840" cy="74295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2013966"/>
            <a:ext cx="5431536" cy="6697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计算规则和权重不透明，平台间评分差异较大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2720340"/>
            <a:ext cx="1600200" cy="742950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756916"/>
            <a:ext cx="1453896" cy="6697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券商研报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286000" y="2720340"/>
            <a:ext cx="3657600" cy="742950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2756916"/>
            <a:ext cx="3511296" cy="6697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猪价、产能、成本、出栏量与现金流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0" y="2720340"/>
            <a:ext cx="5577840" cy="742950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16752" y="2756916"/>
            <a:ext cx="5431536" cy="6697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侧重盈利预测和目标价，较少检验历史择时效果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3463290"/>
            <a:ext cx="1600200" cy="74295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3499866"/>
            <a:ext cx="1453896" cy="6697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学术研究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286000" y="3463290"/>
            <a:ext cx="3657600" cy="74295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9152" y="3499866"/>
            <a:ext cx="3511296" cy="6697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趋势、动量、盈利、估值与现金流质量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43600" y="3463290"/>
            <a:ext cx="5577840" cy="74295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3499866"/>
            <a:ext cx="5431536" cy="66979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多为横截面研究，不能直接替代单只周期股检验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3232" y="46177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本项目的处理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232" y="5029200"/>
            <a:ext cx="10652760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这些资料用于选择指标，不直接决定评级。各项指标统一转成牧原股份相对于自身历史的 expanding 百分位，再用上市以来的数据检验。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13232" y="589788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同花顺 60 分、通联 45 分：同一只股票的评分差异，正好说明参照系和权重需要写清楚。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4360" y="6492240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C84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牧原股份（002714.SZ）</a:t>
            </a:r>
            <a:endParaRPr lang="en-US" sz="900" dirty="0"/>
          </a:p>
        </p:txBody>
      </p:sp>
      <p:sp>
        <p:nvSpPr>
          <p:cNvPr id="33" name="文本框 32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技术面指标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950976"/>
            <a:ext cx="109728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34747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417320" cy="649224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71016"/>
            <a:ext cx="127101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类别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03120" y="1234440"/>
            <a:ext cx="4800600" cy="649224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6272" y="1271016"/>
            <a:ext cx="465429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主要指标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03720" y="1234440"/>
            <a:ext cx="4617720" cy="649224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6872" y="1271016"/>
            <a:ext cx="447141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处理方式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1883664"/>
            <a:ext cx="14173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920240"/>
            <a:ext cx="127101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均线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103120" y="1883664"/>
            <a:ext cx="480060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1920240"/>
            <a:ext cx="465429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MA5/20、MA10/60、MA20/120、MA60/250；均线缺口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03720" y="1883664"/>
            <a:ext cx="46177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1920240"/>
            <a:ext cx="447141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交叉信号记为 0/1；连续值取历史百分位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2532888"/>
            <a:ext cx="1417320" cy="649224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569464"/>
            <a:ext cx="127101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动量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103120" y="2532888"/>
            <a:ext cx="4800600" cy="649224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76272" y="2569464"/>
            <a:ext cx="465429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20、60、120、250 日收益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903720" y="2532888"/>
            <a:ext cx="4617720" cy="649224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6872" y="2569464"/>
            <a:ext cx="447141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同时保留 0/1 信号和连续值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3182112"/>
            <a:ext cx="14173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3218688"/>
            <a:ext cx="127101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量价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103120" y="3182112"/>
            <a:ext cx="480060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3218688"/>
            <a:ext cx="465429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VWMA5/30、VWMA10/60；20/60 日均量比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903720" y="3182112"/>
            <a:ext cx="46177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76872" y="3218688"/>
            <a:ext cx="447141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量价信号用于确认趋势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85800" y="3831336"/>
            <a:ext cx="1417320" cy="649224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867912"/>
            <a:ext cx="127101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补充指标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103120" y="3831336"/>
            <a:ext cx="4800600" cy="649224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76272" y="3867912"/>
            <a:ext cx="465429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RSI14、MACD、布林 %B、BIAS20、波动率、相对沪深300收益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903720" y="3831336"/>
            <a:ext cx="4617720" cy="649224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76872" y="3867912"/>
            <a:ext cx="4471416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波动率反向打分，其余按历史百分位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3232" y="478231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合成方式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3232" y="5166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均线、动量、量价先分别计算组内平均，再由三类等权合成技术面得分。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713232" y="580644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所有历史百分位只使用当日及以前的数据。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13232" y="6144768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共构造 13 个 0/1 信号，并保留连续指标用于百分位打分。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" y="6492240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C84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牧原股份（002714.SZ）</a:t>
            </a:r>
            <a:endParaRPr lang="en-US" sz="900" dirty="0"/>
          </a:p>
        </p:txBody>
      </p:sp>
      <p:sp>
        <p:nvSpPr>
          <p:cNvPr id="40" name="文本框 39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基本面指标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950976"/>
            <a:ext cx="109728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34747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170432"/>
            <a:ext cx="1508760" cy="555171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07008"/>
            <a:ext cx="136245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维度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194560" y="1170432"/>
            <a:ext cx="6903720" cy="555171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1207008"/>
            <a:ext cx="675741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代表指标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098280" y="1170432"/>
            <a:ext cx="2423160" cy="555171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71432" y="1207008"/>
            <a:ext cx="227685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方向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1725603"/>
            <a:ext cx="1508760" cy="555171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762179"/>
            <a:ext cx="136245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盈利能力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194560" y="1725603"/>
            <a:ext cx="6903720" cy="555171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7712" y="1762179"/>
            <a:ext cx="675741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ROE、毛利率、销售净利率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098280" y="1725603"/>
            <a:ext cx="2423160" cy="555171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71432" y="1762179"/>
            <a:ext cx="227685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越高越好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85800" y="2280775"/>
            <a:ext cx="1508760" cy="555171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317351"/>
            <a:ext cx="136245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成长能力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2194560" y="2280775"/>
            <a:ext cx="6903720" cy="555171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7712" y="2317351"/>
            <a:ext cx="675741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营收、净利润与总资产同比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098280" y="2280775"/>
            <a:ext cx="2423160" cy="555171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71432" y="2317351"/>
            <a:ext cx="227685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越高越好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85800" y="2835946"/>
            <a:ext cx="1508760" cy="555171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2872522"/>
            <a:ext cx="136245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偿债能力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2194560" y="2835946"/>
            <a:ext cx="6903720" cy="555171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67712" y="2872522"/>
            <a:ext cx="675741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资产负债率、有息负债率、流动比率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9098280" y="2835946"/>
            <a:ext cx="2423160" cy="555171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71432" y="2872522"/>
            <a:ext cx="227685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负债率反向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85800" y="3391118"/>
            <a:ext cx="1508760" cy="555171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427694"/>
            <a:ext cx="136245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运营效率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2194560" y="3391118"/>
            <a:ext cx="6903720" cy="555171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67712" y="3427694"/>
            <a:ext cx="675741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总资产、存货与固定资产周转率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9098280" y="3391118"/>
            <a:ext cx="2423160" cy="555171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71432" y="3427694"/>
            <a:ext cx="227685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越高越好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85800" y="3946289"/>
            <a:ext cx="1508760" cy="555171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3982865"/>
            <a:ext cx="136245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现金流质量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2194560" y="3946289"/>
            <a:ext cx="6903720" cy="555171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67712" y="3982865"/>
            <a:ext cx="675741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净现比、经营现金流、销售收现比、自由现金流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9098280" y="3946289"/>
            <a:ext cx="2423160" cy="555171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71432" y="3982865"/>
            <a:ext cx="227685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越高越好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685800" y="4501461"/>
            <a:ext cx="1508760" cy="555171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" y="4538037"/>
            <a:ext cx="136245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估值水平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2194560" y="4501461"/>
            <a:ext cx="6903720" cy="555171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67712" y="4538037"/>
            <a:ext cx="675741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PE、PB；亏损期 PE 置空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9098280" y="4501461"/>
            <a:ext cx="2423160" cy="555171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71432" y="4538037"/>
            <a:ext cx="2276856" cy="4820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越低越好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713232" y="533095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养殖行业补充指标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13232" y="5715000"/>
            <a:ext cx="105613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生产性生物资产／总资产、存货／总资产，用于观察产能和存栏，不直接进入等权得分。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13232" y="6144768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六个基本面维度先在维度内等权，再等权合成基本面择时得分。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94360" y="6492240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C84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牧原股份（002714.SZ）</a:t>
            </a:r>
            <a:endParaRPr lang="en-US" sz="900" dirty="0"/>
          </a:p>
        </p:txBody>
      </p:sp>
      <p:sp>
        <p:nvSpPr>
          <p:cNvPr id="51" name="文本框 50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数据来源与验证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950976"/>
            <a:ext cx="109728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34747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128016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CSMAR 国泰安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1755648"/>
            <a:ext cx="4343400" cy="1051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13 张财务及基础信息表：财务报表、公告日期、指标库和公司信息；并补取官方行情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9718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东方财富公开接口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3447288"/>
            <a:ext cx="43434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补充行情字段和时段；使用 requests 请求并解析 JSON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0" y="1143000"/>
            <a:ext cx="0" cy="43891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23444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BA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3057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138160" y="128016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有效交易日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89320" y="2313432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BA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0.0025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138160" y="235915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沪深300点位平均绝对差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89320" y="3392424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BA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138160" y="3438144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沪深300日收益率相关系数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89320" y="4471416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BAC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 天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138160" y="451713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自建与CSMAR收益差超过0.05%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" y="5852160"/>
            <a:ext cx="104698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结论：东财作为补充数据源，但收益率计算采用自行重建并经CSMAR验证的序列。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6492240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C84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牧原股份（002714.SZ）</a:t>
            </a:r>
            <a:endParaRPr lang="en-US" sz="900" dirty="0"/>
          </a:p>
        </p:txBody>
      </p:sp>
      <p:sp>
        <p:nvSpPr>
          <p:cNvPr id="20" name="文本框 19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复权价格的重建与比较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950976"/>
            <a:ext cx="109728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34747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1170432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14 条分红送转记录，其中 5 次转增股本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627632"/>
            <a:ext cx="101498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除权参考价  P_ref(t) = [P(t−1) − 每股现金红利] / [1 + 每股转增比例]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1975104"/>
            <a:ext cx="56692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真实日收益率  r(t) = P(t) / P_ref(t) − 1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3794760" cy="651510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459736"/>
            <a:ext cx="3648456" cy="578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比较对象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2423160"/>
            <a:ext cx="1828800" cy="651510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459736"/>
            <a:ext cx="1682496" cy="578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相关系数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2423160"/>
            <a:ext cx="5212080" cy="651510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2459736"/>
            <a:ext cx="5065776" cy="578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主要结果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3074670"/>
            <a:ext cx="3794760" cy="65151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111246"/>
            <a:ext cx="3648456" cy="578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自建序列 vs CSMAR 后复权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80560" y="3074670"/>
            <a:ext cx="1828800" cy="65151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3111246"/>
            <a:ext cx="1682496" cy="578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1.000000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3074670"/>
            <a:ext cx="5212080" cy="65151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3111246"/>
            <a:ext cx="5065776" cy="578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平均绝对差 2×10⁻⁶；0 天差异超过 0.05%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3726180"/>
            <a:ext cx="3794760" cy="651510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62756"/>
            <a:ext cx="3648456" cy="578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自建序列 vs 东财 hfq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80560" y="3726180"/>
            <a:ext cx="1828800" cy="651510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3762756"/>
            <a:ext cx="1682496" cy="578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0.9997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3726180"/>
            <a:ext cx="5212080" cy="651510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3762756"/>
            <a:ext cx="5065776" cy="578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955 天存在差异；最大单日差 1 个百分点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5800" y="4377690"/>
            <a:ext cx="3794760" cy="65151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414266"/>
            <a:ext cx="3648456" cy="578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自建序列 vs 不复权价格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480560" y="4377690"/>
            <a:ext cx="1828800" cy="65151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3712" y="4414266"/>
            <a:ext cx="1682496" cy="578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0.8529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09360" y="4377690"/>
            <a:ext cx="5212080" cy="65151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4414266"/>
            <a:ext cx="5065776" cy="5783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14 个除权日受影响；最大假跌幅 −50.91%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3232" y="541324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长样本回测最终采用自建后复权序列；前复权价格只用于与当前价格对照。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13232" y="5989320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如果直接用不复权价，5 次送转股会被技术指标识别成异常下跌。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" y="6492240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C84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牧原股份（002714.SZ）</a:t>
            </a:r>
            <a:endParaRPr lang="en-US" sz="900" dirty="0"/>
          </a:p>
        </p:txBody>
      </p:sp>
      <p:sp>
        <p:nvSpPr>
          <p:cNvPr id="35" name="文本框 34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清洗规则与可用时点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950976"/>
            <a:ext cx="109728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34747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170432"/>
            <a:ext cx="1508760" cy="632460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07008"/>
            <a:ext cx="136245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处理环节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194560" y="1170432"/>
            <a:ext cx="5897880" cy="632460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1207008"/>
            <a:ext cx="575157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具体做法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92440" y="1170432"/>
            <a:ext cx="3429000" cy="632460"/>
          </a:xfrm>
          <a:prstGeom prst="rect">
            <a:avLst/>
          </a:prstGeom>
          <a:solidFill>
            <a:srgbClr val="1F3864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5592" y="1207008"/>
            <a:ext cx="328269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结果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1802892"/>
            <a:ext cx="1508760" cy="6324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839468"/>
            <a:ext cx="136245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交易日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194560" y="1802892"/>
            <a:ext cx="5897880" cy="6324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7712" y="1839468"/>
            <a:ext cx="575157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删除成交量为 0 的非交易日；检查重复日期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92440" y="1802892"/>
            <a:ext cx="3429000" cy="6324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65592" y="1839468"/>
            <a:ext cx="328269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3307 行清洗为 3057 个交易日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85800" y="2435352"/>
            <a:ext cx="1508760" cy="632460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471928"/>
            <a:ext cx="136245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涨跌停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2194560" y="2435352"/>
            <a:ext cx="5897880" cy="632460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7712" y="2471928"/>
            <a:ext cx="575157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一字板信号顺延；涨停不追买，跌停不卖出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092440" y="2435352"/>
            <a:ext cx="3429000" cy="632460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5592" y="2471928"/>
            <a:ext cx="328269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53 天触及涨停，36 天触及跌停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85800" y="3067812"/>
            <a:ext cx="1508760" cy="6324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3104388"/>
            <a:ext cx="136245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财务数据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2194560" y="3067812"/>
            <a:ext cx="5897880" cy="6324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67712" y="3104388"/>
            <a:ext cx="575157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累计值转单季，再滚动四季得到 TTM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092440" y="3067812"/>
            <a:ext cx="3429000" cy="6324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65592" y="3104388"/>
            <a:ext cx="328269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51 个标准报告期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85800" y="3700272"/>
            <a:ext cx="1508760" cy="632460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736848"/>
            <a:ext cx="136245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报表口径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2194560" y="3700272"/>
            <a:ext cx="5897880" cy="632460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67712" y="3736848"/>
            <a:ext cx="575157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保留合并报表；删除非标准报告期和旧更正版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8092440" y="3700272"/>
            <a:ext cx="3429000" cy="632460"/>
          </a:xfrm>
          <a:prstGeom prst="rect">
            <a:avLst/>
          </a:prstGeom>
          <a:solidFill>
            <a:srgbClr val="EFF3F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65592" y="3736848"/>
            <a:ext cx="328269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2013Q4 至 2026Q2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85800" y="4332732"/>
            <a:ext cx="1508760" cy="6324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4369308"/>
            <a:ext cx="136245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PIT 对齐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2194560" y="4332732"/>
            <a:ext cx="5897880" cy="6324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67712" y="4369308"/>
            <a:ext cx="575157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财务指标从真实公告日开始使用；非交易日向前取市值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8092440" y="4332732"/>
            <a:ext cx="3429000" cy="6324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65592" y="4369308"/>
            <a:ext cx="3282696" cy="5593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51/51 个报告期成功匹配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713232" y="528523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为什么公告日重要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3232" y="5623560"/>
            <a:ext cx="10652760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若把报告期次月第一天当成可用日，51 个报告期全部会提前使用信息。真实披露时滞中位数为30天，最长120天。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94360" y="6492240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7C84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牧原股份（002714.SZ）｜下一步：技术指标与基本面指标计算</a:t>
            </a:r>
            <a:endParaRPr lang="en-US" sz="900" dirty="0"/>
          </a:p>
        </p:txBody>
      </p:sp>
      <p:sp>
        <p:nvSpPr>
          <p:cNvPr id="44" name="文本框 43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25500" y="2540000"/>
            <a:ext cx="10541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第二部分　林博（</a:t>
            </a:r>
            <a:r>
              <a:rPr lang="en-US" alt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Task 1 </a:t>
            </a:r>
            <a:r>
              <a:rPr lang="zh-CN" altLang="en-US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技术面择时指标）</a:t>
            </a:r>
            <a:endParaRPr lang="zh-CN" altLang="en-US"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0900" y="3378200"/>
            <a:ext cx="1041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技术指标与信号构造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技术面得分合成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描述性统计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信号触发比例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与股价走势对照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Grp="1"/>
          </p:cNvSpPr>
          <p:nvPr/>
        </p:nvSpPr>
        <p:spPr>
          <a:xfrm>
            <a:off x="666750" y="6667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12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 2  /  技术面择时</a:t>
            </a:r>
            <a:endParaRPr sz="1125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1219200"/>
            <a:ext cx="5905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6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95000"/>
              </a:lnSpc>
              <a:buNone/>
              <a:defRPr sz="36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1</a:t>
            </a:r>
            <a:endParaRPr sz="36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buNone/>
              <a:defRPr sz="36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技术面择时指标</a:t>
            </a:r>
            <a:endParaRPr sz="36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136515" y="645795"/>
            <a:ext cx="4953000" cy="47472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E2F3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660390" y="1229360"/>
            <a:ext cx="1569720" cy="264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>
            <a:defPPr algn="l">
              <a:defRPr sz="97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240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658485" y="1670050"/>
            <a:ext cx="3623310" cy="374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>
            <a:defPPr algn="l">
              <a:defRPr sz="17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日频面板</a:t>
            </a:r>
            <a:endParaRPr sz="24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658485" y="2099945"/>
            <a:ext cx="3623310" cy="772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>
            <a:defPPr algn="l">
              <a:defRPr sz="1275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20000"/>
              </a:lnSpc>
              <a:buNone/>
              <a:defRPr sz="1275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后复权收盘价  ·  成交量  ·  换手率</a:t>
            </a:r>
            <a:endParaRPr sz="16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buNone/>
              <a:defRPr sz="1275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收益率  ·  沪深 300 收盘价</a:t>
            </a:r>
            <a:endParaRPr sz="16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77890" y="2922905"/>
            <a:ext cx="603250" cy="4406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>
            <a:defPPr algn="ctr">
              <a:defRPr sz="19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9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240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658485" y="3351530"/>
            <a:ext cx="3623310" cy="4406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>
            <a:defPPr algn="l">
              <a:defRPr sz="187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7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4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技术框架</a:t>
            </a:r>
            <a:endParaRPr lang="zh-CN" altLang="en-US" sz="240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658485" y="3804920"/>
            <a:ext cx="3623310" cy="353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>
            <a:defPPr algn="l">
              <a:defRPr sz="1275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275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 → 信号 → 得分</a:t>
            </a:r>
            <a:endParaRPr sz="16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660390" y="4296410"/>
            <a:ext cx="1569720" cy="264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>
            <a:defPPr algn="l">
              <a:defRPr sz="97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97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sz="240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633085" y="4737100"/>
            <a:ext cx="3864610" cy="374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>
            <a:defPPr algn="l">
              <a:defRPr sz="15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tech_score + 汇总表</a:t>
            </a:r>
            <a:endParaRPr sz="18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553200"/>
            <a:ext cx="666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7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牧原股份 002714.SZ  |  技术面择时指标</a:t>
            </a:r>
            <a:endParaRPr sz="75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548640" y="27432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技术指标与信号</a:t>
            </a:r>
            <a:endParaRPr lang="zh-CN" sz="2800"/>
          </a:p>
        </p:txBody>
      </p:sp>
      <p:sp>
        <p:nvSpPr>
          <p:cNvPr id="11" name="Footer"/>
          <p:cNvSpPr txBox="1"/>
          <p:nvPr/>
        </p:nvSpPr>
        <p:spPr>
          <a:xfrm>
            <a:off x="548640" y="6519672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牧原股份 002714.SZ   技术面择时指标</a:t>
            </a:r>
            <a:endParaRPr lang="zh-CN" sz="1000"/>
          </a:p>
        </p:txBody>
      </p:sp>
      <p:sp>
        <p:nvSpPr>
          <p:cNvPr id="13" name="Text 13"/>
          <p:cNvSpPr txBox="1"/>
          <p:nvPr/>
        </p:nvSpPr>
        <p:spPr>
          <a:xfrm>
            <a:off x="566928" y="1042416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三类核心指标各自回答一个问题：趋势是否向上、价格是否延续、成交量是否配合。</a:t>
            </a:r>
            <a:endParaRPr lang="zh-CN" sz="1500"/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548640" y="1600200"/>
          <a:ext cx="11082528" cy="2441448"/>
        </p:xfrm>
        <a:graphic>
          <a:graphicData uri="http://schemas.openxmlformats.org/drawingml/2006/table">
            <a:tbl>
              <a:tblPr firstRow="1"/>
              <a:tblGrid>
                <a:gridCol w="3547872"/>
                <a:gridCol w="3840480"/>
                <a:gridCol w="3694176"/>
              </a:tblGrid>
              <a:tr h="45720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均线趋势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动量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量价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</a:tr>
              <a:tr h="103327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5/20、10/60、</a:t>
                      </a:r>
                      <a:endParaRPr lang="zh-CN" sz="1600"/>
                    </a:p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20/120、60/250 日</a:t>
                      </a:r>
                      <a:endParaRPr lang="zh-CN" sz="16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20、60、120、250 日</a:t>
                      </a:r>
                      <a:endParaRPr lang="zh-CN" sz="1600"/>
                    </a:p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累计收益</a:t>
                      </a:r>
                      <a:endParaRPr lang="zh-CN" sz="16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VWMA 5/30、10/60 日</a:t>
                      </a:r>
                      <a:endParaRPr lang="zh-CN" sz="1600"/>
                    </a:p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20/60 日均量比</a:t>
                      </a:r>
                      <a:endParaRPr lang="zh-CN" sz="16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短期均线不低于长期均线 → 1</a:t>
                      </a:r>
                      <a:endParaRPr lang="zh-CN" sz="16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Pₜ / Pₜ₋ₙ − 1 ≥ 0 → 1</a:t>
                      </a:r>
                      <a:endParaRPr lang="zh-CN" sz="16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VWMA 短期不低于长期 → 1</a:t>
                      </a:r>
                      <a:endParaRPr lang="zh-CN" sz="1600"/>
                    </a:p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均量比 ≥ 1 → 1</a:t>
                      </a:r>
                      <a:endParaRPr lang="zh-CN" sz="16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5"/>
          <p:cNvSpPr txBox="1"/>
          <p:nvPr/>
        </p:nvSpPr>
        <p:spPr>
          <a:xfrm>
            <a:off x="603504" y="404164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个核心信号</a:t>
            </a:r>
            <a:endParaRPr lang="zh-CN" sz="2000"/>
          </a:p>
        </p:txBody>
      </p:sp>
      <p:sp>
        <p:nvSpPr>
          <p:cNvPr id="16" name="Text 16"/>
          <p:cNvSpPr txBox="1"/>
          <p:nvPr/>
        </p:nvSpPr>
        <p:spPr>
          <a:xfrm>
            <a:off x="603504" y="4617720"/>
            <a:ext cx="109728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此外保留 RSI14、DIF−DEA、收盘价与布林中轨的比较，形成 3 个辅助信号。</a:t>
            </a:r>
            <a:endParaRPr lang="zh-CN" sz="1700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辅助信号用于补充状态刻画，技术面得分仍按三类核心信号等权计算。</a:t>
            </a:r>
            <a:endParaRPr lang="zh-CN" sz="1700"/>
          </a:p>
        </p:txBody>
      </p:sp>
      <p:sp>
        <p:nvSpPr>
          <p:cNvPr id="2" name="文本框 1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548640" y="27432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技术面得分的计算</a:t>
            </a:r>
            <a:endParaRPr lang="zh-CN" sz="2800"/>
          </a:p>
        </p:txBody>
      </p:sp>
      <p:sp>
        <p:nvSpPr>
          <p:cNvPr id="11" name="Footer"/>
          <p:cNvSpPr txBox="1"/>
          <p:nvPr/>
        </p:nvSpPr>
        <p:spPr>
          <a:xfrm>
            <a:off x="548640" y="6519672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牧原股份 002714.SZ   技术面择时指标</a:t>
            </a:r>
            <a:endParaRPr lang="zh-CN" sz="1000"/>
          </a:p>
        </p:txBody>
      </p:sp>
      <p:sp>
        <p:nvSpPr>
          <p:cNvPr id="13" name="Text 13"/>
          <p:cNvSpPr txBox="1"/>
          <p:nvPr/>
        </p:nvSpPr>
        <p:spPr>
          <a:xfrm>
            <a:off x="566928" y="10972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核心得分先在类别内取平均，再让均线、动量和量价各占 1/3。</a:t>
            </a:r>
            <a:endParaRPr lang="zh-CN" sz="1700"/>
          </a:p>
        </p:txBody>
      </p:sp>
      <p:sp>
        <p:nvSpPr>
          <p:cNvPr id="14" name="Text 14"/>
          <p:cNvSpPr txBox="1"/>
          <p:nvPr/>
        </p:nvSpPr>
        <p:spPr>
          <a:xfrm>
            <a:off x="640080" y="1792224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二元信号</a:t>
            </a:r>
            <a:endParaRPr lang="zh-CN" sz="2000"/>
          </a:p>
        </p:txBody>
      </p:sp>
      <p:sp>
        <p:nvSpPr>
          <p:cNvPr id="15" name="Text 15"/>
          <p:cNvSpPr txBox="1"/>
          <p:nvPr/>
        </p:nvSpPr>
        <p:spPr>
          <a:xfrm>
            <a:off x="640080" y="2350008"/>
            <a:ext cx="507492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满足条件记 1，未满足记 0。</a:t>
            </a:r>
            <a:endParaRPr lang="zh-CN" sz="1700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组内平均后乘 100，得到 0—100 分。</a:t>
            </a:r>
            <a:endParaRPr lang="zh-CN" sz="1700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分数越高，表示越多趋势条件同时满足。</a:t>
            </a:r>
            <a:endParaRPr lang="zh-CN" sz="1700"/>
          </a:p>
        </p:txBody>
      </p:sp>
      <p:sp>
        <p:nvSpPr>
          <p:cNvPr id="16" name="Text 16"/>
          <p:cNvSpPr txBox="1"/>
          <p:nvPr/>
        </p:nvSpPr>
        <p:spPr>
          <a:xfrm>
            <a:off x="6400800" y="179222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连续指标</a:t>
            </a:r>
            <a:endParaRPr lang="zh-CN" sz="2000"/>
          </a:p>
        </p:txBody>
      </p:sp>
      <p:sp>
        <p:nvSpPr>
          <p:cNvPr id="17" name="Text 17"/>
          <p:cNvSpPr txBox="1"/>
          <p:nvPr/>
        </p:nvSpPr>
        <p:spPr>
          <a:xfrm>
            <a:off x="6400800" y="2350008"/>
            <a:ext cx="5102352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用扩展窗口计算截至当日的历史百分位，至少 60 个有效观测后开始。</a:t>
            </a:r>
            <a:endParaRPr lang="zh-CN" sz="1700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波动率采用反向百分位，低波动对应较高分。</a:t>
            </a:r>
            <a:endParaRPr lang="zh-CN" sz="1700"/>
          </a:p>
        </p:txBody>
      </p:sp>
      <p:sp>
        <p:nvSpPr>
          <p:cNvPr id="18" name="Text 18"/>
          <p:cNvSpPr txBox="1"/>
          <p:nvPr/>
        </p:nvSpPr>
        <p:spPr>
          <a:xfrm>
            <a:off x="640080" y="4389120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3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技术面得分 =（均线类 + 动量类 + 量价类）/ 3</a:t>
            </a:r>
            <a:endParaRPr lang="zh-CN" sz="2300"/>
          </a:p>
        </p:txBody>
      </p:sp>
      <p:sp>
        <p:nvSpPr>
          <p:cNvPr id="19" name="Text 19"/>
          <p:cNvSpPr txBox="1"/>
          <p:nvPr/>
        </p:nvSpPr>
        <p:spPr>
          <a:xfrm>
            <a:off x="640080" y="518464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扩展得分另采用 75% 的技术面得分与 25% 的连续指标均值，供后续收益检验作对照。</a:t>
            </a:r>
            <a:endParaRPr lang="zh-CN" sz="1600"/>
          </a:p>
        </p:txBody>
      </p:sp>
      <p:sp>
        <p:nvSpPr>
          <p:cNvPr id="2" name="文本框 1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548640" y="27432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技术指标描述性统计</a:t>
            </a:r>
            <a:endParaRPr lang="zh-CN" sz="2800"/>
          </a:p>
        </p:txBody>
      </p:sp>
      <p:sp>
        <p:nvSpPr>
          <p:cNvPr id="11" name="Footer"/>
          <p:cNvSpPr txBox="1"/>
          <p:nvPr/>
        </p:nvSpPr>
        <p:spPr>
          <a:xfrm>
            <a:off x="548640" y="6519672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牧原股份 002714.SZ   技术面择时指标</a:t>
            </a:r>
            <a:endParaRPr lang="zh-CN" sz="1000"/>
          </a:p>
        </p:txBody>
      </p:sp>
      <p:sp>
        <p:nvSpPr>
          <p:cNvPr id="13" name="Text 13"/>
          <p:cNvSpPr txBox="1"/>
          <p:nvPr/>
        </p:nvSpPr>
        <p:spPr>
          <a:xfrm>
            <a:off x="566928" y="1024128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样本：2014-01-28 至 2026-09-30，共 3057 个交易日；缺失值不参与各列 count。</a:t>
            </a:r>
            <a:endParaRPr lang="zh-CN" sz="1300"/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548640" y="1389888"/>
          <a:ext cx="11109960" cy="3538728"/>
        </p:xfrm>
        <a:graphic>
          <a:graphicData uri="http://schemas.openxmlformats.org/drawingml/2006/table">
            <a:tbl>
              <a:tblPr firstRow="1"/>
              <a:tblGrid>
                <a:gridCol w="1856232"/>
                <a:gridCol w="1156716"/>
                <a:gridCol w="1156716"/>
                <a:gridCol w="1156716"/>
                <a:gridCol w="1156716"/>
                <a:gridCol w="1156716"/>
                <a:gridCol w="1156716"/>
                <a:gridCol w="1156716"/>
                <a:gridCol w="1156716"/>
              </a:tblGrid>
              <a:tr h="329184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lang="zh-CN" sz="10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count</a:t>
                      </a:r>
                      <a:endParaRPr lang="zh-CN" sz="10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mean</a:t>
                      </a:r>
                      <a:endParaRPr lang="zh-CN" sz="10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std</a:t>
                      </a:r>
                      <a:endParaRPr lang="zh-CN" sz="10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min</a:t>
                      </a:r>
                      <a:endParaRPr lang="zh-CN" sz="10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20%</a:t>
                      </a:r>
                      <a:endParaRPr lang="zh-CN" sz="10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50%</a:t>
                      </a:r>
                      <a:endParaRPr lang="zh-CN" sz="10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75%</a:t>
                      </a:r>
                      <a:endParaRPr lang="zh-CN" sz="10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max</a:t>
                      </a:r>
                      <a:endParaRPr lang="zh-CN" sz="10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技术面得分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3057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54.28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30.55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25.00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55.56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80.56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100.00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全部信号平均分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3057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54.13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29.82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21.43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57.14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78.57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100.00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MA20/60缺口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2998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0.0219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0.0822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-0.1778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-0.0410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0.0084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0.0718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0.3235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20日动量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3037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0.0292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0.1324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-0.3772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-0.0687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0.0138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0.0923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0.8839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60日动量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2997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0.0905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0.2537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-0.4926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-0.0992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0.0361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0.2071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1.4547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RSI14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3043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51.59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12.22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15.15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41.38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51.41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59.71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89.02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MACD柱值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3057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0.0107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6.3506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-38.1835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-3.1268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0.0606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2.0560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40.6088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布林带%B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3038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0.5266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0.3253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-0.4036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0.2142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0.5334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0.7879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1.3836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20日年化波动率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3037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0.4060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0.1896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0.0975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0.2418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0.3807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0.5065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1.4044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20/60日均量比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2998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1.0215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0.2379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0.4327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0.8303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0.9865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1.1565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1.9187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20日平均换手率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3038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1.5607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1.3269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0.2875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0.7537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1.1850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1.6239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14.2795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20日超额收益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3037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0.0226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0.1206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-0.5554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-0.0628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0.0077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0.0813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0.8282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日收益率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3056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0.0015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0.0288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-0.1001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-0.0168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0.0000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0.0133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0.1001</a:t>
                      </a:r>
                      <a:endParaRPr lang="zh-CN" sz="10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5" name="Text 15"/>
          <p:cNvSpPr txBox="1"/>
          <p:nvPr/>
        </p:nvSpPr>
        <p:spPr>
          <a:xfrm>
            <a:off x="603504" y="5468112"/>
            <a:ext cx="109728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技术面得分均值 54.28，中位数 55.56；20% 和 75% 分位分别为 25.00 和 80.56。</a:t>
            </a:r>
            <a:endParaRPr lang="zh-CN" sz="1600"/>
          </a:p>
        </p:txBody>
      </p:sp>
      <p:sp>
        <p:nvSpPr>
          <p:cNvPr id="16" name="Text 16"/>
          <p:cNvSpPr txBox="1"/>
          <p:nvPr/>
        </p:nvSpPr>
        <p:spPr>
          <a:xfrm>
            <a:off x="603504" y="6035040"/>
            <a:ext cx="109728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注：缺口、动量、波动率、超额收益和日收益率按小数表示；换手率为百分数。原得分保留预热期记录。</a:t>
            </a:r>
            <a:endParaRPr lang="zh-CN" sz="1050"/>
          </a:p>
        </p:txBody>
      </p:sp>
      <p:sp>
        <p:nvSpPr>
          <p:cNvPr id="2" name="文本框 1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548640" y="27432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信号触发比例</a:t>
            </a:r>
            <a:endParaRPr lang="zh-CN" sz="2800"/>
          </a:p>
        </p:txBody>
      </p:sp>
      <p:sp>
        <p:nvSpPr>
          <p:cNvPr id="11" name="Footer"/>
          <p:cNvSpPr txBox="1"/>
          <p:nvPr/>
        </p:nvSpPr>
        <p:spPr>
          <a:xfrm>
            <a:off x="548640" y="6519672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牧原股份 002714.SZ   技术面择时指标</a:t>
            </a:r>
            <a:endParaRPr lang="zh-CN" sz="1000"/>
          </a:p>
        </p:txBody>
      </p:sp>
      <p:sp>
        <p:nvSpPr>
          <p:cNvPr id="13" name="Text 13"/>
          <p:cNvSpPr txBox="1"/>
          <p:nvPr/>
        </p:nvSpPr>
        <p:spPr>
          <a:xfrm>
            <a:off x="566928" y="1024128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信号为 1 的交易日占全样本交易日的比例；该比例反映出现频率，不是收益胜率。</a:t>
            </a:r>
            <a:endParaRPr lang="zh-CN" sz="1300"/>
          </a:p>
        </p:txBody>
      </p:sp>
      <p:sp>
        <p:nvSpPr>
          <p:cNvPr id="14" name="Text 14"/>
          <p:cNvSpPr txBox="1"/>
          <p:nvPr/>
        </p:nvSpPr>
        <p:spPr>
          <a:xfrm>
            <a:off x="585216" y="1444752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均线与动量</a:t>
            </a:r>
            <a:endParaRPr lang="zh-CN" sz="1700"/>
          </a:p>
        </p:txBody>
      </p:sp>
      <p:sp>
        <p:nvSpPr>
          <p:cNvPr id="15" name="Text 15"/>
          <p:cNvSpPr txBox="1"/>
          <p:nvPr/>
        </p:nvSpPr>
        <p:spPr>
          <a:xfrm>
            <a:off x="6391656" y="1444752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量价与辅助指标</a:t>
            </a:r>
            <a:endParaRPr lang="zh-CN" sz="1700"/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548640" y="1874520"/>
          <a:ext cx="5321808" cy="3328416"/>
        </p:xfrm>
        <a:graphic>
          <a:graphicData uri="http://schemas.openxmlformats.org/drawingml/2006/table">
            <a:tbl>
              <a:tblPr firstRow="1"/>
              <a:tblGrid>
                <a:gridCol w="3858768"/>
                <a:gridCol w="1463040"/>
              </a:tblGrid>
              <a:tr h="36576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信号条件</a:t>
                      </a:r>
                      <a:endParaRPr lang="zh-CN" sz="15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触发比例</a:t>
                      </a:r>
                      <a:endParaRPr lang="zh-CN" sz="15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MA5 ≥ MA20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52.27%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MA10 ≥ MA60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54.01%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MA20 ≥ MA120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54.04%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MA60 ≥ MA250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58.46%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20日动量 ≥ 0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55.15%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60日动量 ≥ 0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56.40%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120日动量 ≥ 0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56.62%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250日动量 ≥ 0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61.33%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6336792" y="1874520"/>
          <a:ext cx="5321808" cy="2587752"/>
        </p:xfrm>
        <a:graphic>
          <a:graphicData uri="http://schemas.openxmlformats.org/drawingml/2006/table">
            <a:tbl>
              <a:tblPr firstRow="1"/>
              <a:tblGrid>
                <a:gridCol w="3858768"/>
                <a:gridCol w="1463040"/>
              </a:tblGrid>
              <a:tr h="36576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信号条件</a:t>
                      </a:r>
                      <a:endParaRPr lang="zh-CN" sz="15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触发比例</a:t>
                      </a:r>
                      <a:endParaRPr lang="zh-CN" sz="150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F497D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VWMA5 ≥ VWMA30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53.19%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VWMA10 ≥ VWMA60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52.76%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20/60日均量比 ≥ 1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46.39%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RSI14 ≥ 50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53.61%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DIF ≥ DEA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51.23%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收盘价 ≥ 布林中轨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550" b="0" dirty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52.34%</a:t>
                      </a:r>
                      <a:endParaRPr lang="zh-CN" sz="1550"/>
                    </a:p>
                  </a:txBody>
                  <a:tcPr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8"/>
          <p:cNvSpPr txBox="1"/>
          <p:nvPr/>
        </p:nvSpPr>
        <p:spPr>
          <a:xfrm>
            <a:off x="6400800" y="4846320"/>
            <a:ext cx="5166360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最高：250 日动量 61.33%</a:t>
            </a:r>
            <a:endParaRPr lang="zh-CN" sz="1600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最低：20/60 日均量比 46.39%</a:t>
            </a:r>
            <a:endParaRPr lang="zh-CN" sz="1600"/>
          </a:p>
        </p:txBody>
      </p:sp>
      <p:sp>
        <p:nvSpPr>
          <p:cNvPr id="19" name="Text 19"/>
          <p:cNvSpPr txBox="1"/>
          <p:nvPr/>
        </p:nvSpPr>
        <p:spPr>
          <a:xfrm>
            <a:off x="603504" y="585216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注：原输出将窗口不足的日期按 0 计入；正式收益检验按最长窗口剔除预热期。</a:t>
            </a:r>
            <a:endParaRPr lang="zh-CN" sz="1050"/>
          </a:p>
        </p:txBody>
      </p:sp>
      <p:sp>
        <p:nvSpPr>
          <p:cNvPr id="2" name="文本框 1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/>
          <p:cNvSpPr txBox="1"/>
          <p:nvPr/>
        </p:nvSpPr>
        <p:spPr>
          <a:xfrm>
            <a:off x="548640" y="274320"/>
            <a:ext cx="10972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技术指标与股价走势</a:t>
            </a:r>
            <a:endParaRPr lang="zh-CN" sz="2800"/>
          </a:p>
        </p:txBody>
      </p:sp>
      <p:sp>
        <p:nvSpPr>
          <p:cNvPr id="11" name="Footer"/>
          <p:cNvSpPr txBox="1"/>
          <p:nvPr/>
        </p:nvSpPr>
        <p:spPr>
          <a:xfrm>
            <a:off x="548640" y="6519672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牧原股份 002714.SZ   技术面择时指标</a:t>
            </a:r>
            <a:endParaRPr lang="zh-CN" sz="1000"/>
          </a:p>
        </p:txBody>
      </p:sp>
      <p:pic>
        <p:nvPicPr>
          <p:cNvPr id="9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097280"/>
            <a:ext cx="5596890" cy="516636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6473952" y="1353312"/>
            <a:ext cx="5102352" cy="448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价格、得分与状态变化</a:t>
            </a:r>
            <a:endParaRPr lang="zh-CN" sz="1800"/>
          </a:p>
        </p:txBody>
      </p:sp>
      <p:sp>
        <p:nvSpPr>
          <p:cNvPr id="14" name="Text 14"/>
          <p:cNvSpPr txBox="1"/>
          <p:nvPr/>
        </p:nvSpPr>
        <p:spPr>
          <a:xfrm>
            <a:off x="6473952" y="2084832"/>
            <a:ext cx="5102352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上涨阶段，均线与动量信号通常同时转强，</a:t>
            </a:r>
            <a:endParaRPr lang="zh-CN" sz="1800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技术面得分随之提高。</a:t>
            </a:r>
            <a:endParaRPr lang="zh-CN" sz="1800"/>
          </a:p>
        </p:txBody>
      </p:sp>
      <p:sp>
        <p:nvSpPr>
          <p:cNvPr id="15" name="Text 15"/>
          <p:cNvSpPr txBox="1"/>
          <p:nvPr/>
        </p:nvSpPr>
        <p:spPr>
          <a:xfrm>
            <a:off x="6473952" y="3383280"/>
            <a:ext cx="5102352" cy="987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震荡阶段，得分和 RSI 会反复变化，</a:t>
            </a:r>
            <a:endParaRPr lang="zh-CN" sz="1800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需要结合成交量判断。</a:t>
            </a:r>
            <a:endParaRPr lang="zh-CN" sz="1800"/>
          </a:p>
        </p:txBody>
      </p:sp>
      <p:sp>
        <p:nvSpPr>
          <p:cNvPr id="16" name="Text 16"/>
          <p:cNvSpPr txBox="1"/>
          <p:nvPr/>
        </p:nvSpPr>
        <p:spPr>
          <a:xfrm>
            <a:off x="6473952" y="4773168"/>
            <a:ext cx="5102352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1 输出完整的技术指标与得分；</a:t>
            </a:r>
            <a:endParaRPr lang="zh-CN" sz="1800"/>
          </a:p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下一部分检验不同状态下的未来收益。</a:t>
            </a:r>
            <a:endParaRPr lang="zh-CN" sz="1800"/>
          </a:p>
        </p:txBody>
      </p:sp>
      <p:sp>
        <p:nvSpPr>
          <p:cNvPr id="17" name="Text 17"/>
          <p:cNvSpPr txBox="1"/>
          <p:nvPr/>
        </p:nvSpPr>
        <p:spPr>
          <a:xfrm>
            <a:off x="6473952" y="5925312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阴影：MA20 ≥ MA120 且 60 日动量非负。</a:t>
            </a:r>
            <a:endParaRPr lang="zh-CN" sz="1100"/>
          </a:p>
        </p:txBody>
      </p:sp>
      <p:sp>
        <p:nvSpPr>
          <p:cNvPr id="2" name="文本框 1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25500" y="2540000"/>
            <a:ext cx="10541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第三部分　王浩哲（</a:t>
            </a:r>
            <a:r>
              <a:rPr lang="en-US" alt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Task 2 </a:t>
            </a:r>
            <a:r>
              <a:rPr lang="zh-CN" altLang="en-US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基本面择时指标）</a:t>
            </a:r>
            <a:endParaRPr lang="zh-CN" altLang="en-US"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0900" y="3378200"/>
            <a:ext cx="1041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财报清洗与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TTM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口径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基本面指标体系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历史分位评分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交叉核验与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ROE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口径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分组结果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52450" y="428625"/>
            <a:ext cx="111442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925" b="1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2</a:t>
            </a:r>
            <a:endParaRPr sz="2925" b="1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11442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 dirty="0" err="1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牧原股份</a:t>
            </a:r>
            <a:r>
              <a:rPr sz="1500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002714.SZ　　Task 2：经营状态与估值相对自身历史的位置</a:t>
            </a:r>
            <a:endParaRPr sz="1500" b="0" dirty="0">
              <a:solidFill>
                <a:srgbClr val="6171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19850"/>
            <a:ext cx="10334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 dirty="0" err="1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样本财报截至</a:t>
            </a:r>
            <a:r>
              <a:rPr sz="975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2026Q2，行情截至 2026-09-30。</a:t>
            </a:r>
            <a:endParaRPr sz="975" b="0" dirty="0">
              <a:solidFill>
                <a:srgbClr val="6171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571500" y="1800225"/>
          <a:ext cx="11049000" cy="1990724"/>
        </p:xfrm>
        <a:graphic>
          <a:graphicData uri="http://schemas.openxmlformats.org/drawingml/2006/table">
            <a:tbl>
              <a:tblPr/>
              <a:tblGrid>
                <a:gridCol w="2095500"/>
                <a:gridCol w="8953500"/>
              </a:tblGrid>
              <a:tr h="497681">
                <a:tc>
                  <a:txBody>
                    <a:bodyPr/>
                    <a:lstStyle/>
                    <a:p>
                      <a:r>
                        <a:rPr sz="1725" b="1" dirty="0" err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环节</a:t>
                      </a:r>
                      <a:endParaRPr sz="1725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19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文件与作用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193A50"/>
                    </a:solidFill>
                  </a:tcPr>
                </a:tc>
              </a:tr>
              <a:tr h="497681"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接收</a:t>
                      </a:r>
                      <a:r>
                        <a:rPr sz="1725" b="0" dirty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Task 1</a:t>
                      </a:r>
                      <a:endParaRPr sz="1725" b="0" dirty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step2_panel.csv：价格、市值、技术面得分</a:t>
                      </a:r>
                      <a:endParaRPr sz="1725" b="0" dirty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4976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财务输入</a:t>
                      </a:r>
                      <a:endParaRPr sz="17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张财报、公告表、5 </a:t>
                      </a:r>
                      <a:r>
                        <a:rPr sz="1725" b="0" dirty="0" err="1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张官方比率表</a:t>
                      </a:r>
                      <a:endParaRPr sz="1725" b="0" dirty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</a:tr>
              <a:tr h="4976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交付 Task 3</a:t>
                      </a:r>
                      <a:endParaRPr sz="17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quarterly_indicators.csv 和 step3_panel.csv</a:t>
                      </a:r>
                      <a:endParaRPr sz="1725" b="0" dirty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581025" y="4057650"/>
            <a:ext cx="6572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Notebook 中的运行入口</a:t>
            </a:r>
            <a:endParaRPr sz="1950" b="1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81025" y="4591050"/>
            <a:ext cx="1081087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fund = </a:t>
            </a:r>
            <a:r>
              <a:rPr sz="1800" b="0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FundamentalFramework</a:t>
            </a:r>
            <a:r>
              <a:rPr sz="1800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(raw, panel, </a:t>
            </a:r>
            <a:r>
              <a:rPr sz="1800" b="0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output_dir</a:t>
            </a:r>
            <a:r>
              <a:rPr sz="1800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=str(OUT))</a:t>
            </a:r>
            <a:endParaRPr sz="1800" b="0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panel, quarterly, stats = </a:t>
            </a:r>
            <a:r>
              <a:rPr sz="1800" b="0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fund.run</a:t>
            </a:r>
            <a:r>
              <a:rPr sz="1800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(panel)</a:t>
            </a:r>
            <a:endParaRPr sz="1800" b="0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811" y="882497"/>
            <a:ext cx="5361709" cy="243672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811" y="3871675"/>
            <a:ext cx="5074157" cy="2162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>
            <a:spLocks noGrp="1"/>
          </p:cNvSpPr>
          <p:nvPr/>
        </p:nvSpPr>
        <p:spPr>
          <a:xfrm>
            <a:off x="552450" y="428625"/>
            <a:ext cx="111442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财报清洗与 TTM</a:t>
            </a:r>
            <a:endParaRPr sz="2925" b="1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11442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 dirty="0" err="1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对利润表、现金流量表的累计流量做差分；资产负债表保留期末存量</a:t>
            </a:r>
            <a:r>
              <a:rPr sz="1500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500" b="0" dirty="0">
              <a:solidFill>
                <a:srgbClr val="6171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81025" y="172402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　合并口径与报告期清洗</a:t>
            </a:r>
            <a:endParaRPr sz="1950" b="1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81025" y="2219325"/>
            <a:ext cx="10953750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 = frame[frame["Typrep"].astype(str).str.upper().eq("A")]</a:t>
            </a:r>
            <a:endParaRPr sz="1725" b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 = frame.loc[standard].copy()</a:t>
            </a:r>
            <a:endParaRPr sz="1725" b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 = frame.drop_duplicates("Accper", keep="last")</a:t>
            </a:r>
            <a:endParaRPr sz="1725" b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81025" y="327660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sz="1650" b="0" dirty="0" err="1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表示合并报表。standard</a:t>
            </a:r>
            <a:r>
              <a:rPr sz="1650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50" b="0" dirty="0" err="1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筛选报告期；去重前按</a:t>
            </a:r>
            <a:r>
              <a:rPr sz="1650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50" b="0" dirty="0" err="1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IfCorrect</a:t>
            </a:r>
            <a:r>
              <a:rPr sz="1650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50" b="0" dirty="0" err="1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排序</a:t>
            </a:r>
            <a:r>
              <a:rPr sz="1650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50" b="0" dirty="0">
              <a:solidFill>
                <a:srgbClr val="6171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81025" y="3867150"/>
            <a:ext cx="108108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　</a:t>
            </a:r>
            <a:r>
              <a:rPr sz="1950" b="1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累计数先转单季，再取滚动四季</a:t>
            </a:r>
            <a:endParaRPr sz="1950" b="1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81025" y="431482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 = 一季报累计；Q2 = 半年报累计 − Q1；Q3、Q4 同理。</a:t>
            </a:r>
            <a:endParaRPr sz="1800" b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81025" y="4848225"/>
            <a:ext cx="109537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rolling = frame.rolling(4).sum()</a:t>
            </a:r>
            <a:endParaRPr sz="1725" b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return rolling.where(frame.rolling(4).count().eq(4))</a:t>
            </a:r>
            <a:endParaRPr sz="1725" b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81025" y="5810250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dirty="0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sz="1725" b="0" dirty="0" err="1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个有效单季形成</a:t>
            </a:r>
            <a:r>
              <a:rPr sz="1725" b="0" dirty="0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25" b="0" dirty="0" err="1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TTM。平均分母</a:t>
            </a:r>
            <a:r>
              <a:rPr sz="1725" b="0" dirty="0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(</a:t>
            </a:r>
            <a:r>
              <a:rPr sz="1725" b="0" dirty="0" err="1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本期末存量</a:t>
            </a:r>
            <a:r>
              <a:rPr sz="1725" b="0" dirty="0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shift(4)) / 2。</a:t>
            </a:r>
            <a:endParaRPr sz="1725" b="0" dirty="0">
              <a:solidFill>
                <a:srgbClr val="147F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552450" y="428625"/>
            <a:ext cx="111442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基本面框架</a:t>
            </a:r>
            <a:endParaRPr sz="2925" b="1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11442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项指标进入评分，方向是事前设定，预测能力另由 Task 3 检验。</a:t>
            </a:r>
            <a:endParaRPr sz="1500" b="0">
              <a:solidFill>
                <a:srgbClr val="6171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90550" y="1714500"/>
            <a:ext cx="11430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 dirty="0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endParaRPr sz="3900" b="1" dirty="0">
              <a:solidFill>
                <a:srgbClr val="147F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85925" y="1914525"/>
            <a:ext cx="26193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 dirty="0" err="1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报告期</a:t>
            </a:r>
            <a:r>
              <a:rPr sz="1575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2013Q4—2026Q2</a:t>
            </a:r>
            <a:endParaRPr sz="1575" b="0" dirty="0">
              <a:solidFill>
                <a:srgbClr val="6171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333875" y="1714500"/>
            <a:ext cx="11430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 dirty="0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</a:t>
            </a:r>
            <a:endParaRPr sz="3900" b="1" dirty="0">
              <a:solidFill>
                <a:srgbClr val="147F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429250" y="1914525"/>
            <a:ext cx="26193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 dirty="0" err="1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综合得分有效期</a:t>
            </a:r>
            <a:endParaRPr sz="1575" b="0" dirty="0">
              <a:solidFill>
                <a:srgbClr val="6171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3" name="表格 22"/>
          <p:cNvGraphicFramePr/>
          <p:nvPr/>
        </p:nvGraphicFramePr>
        <p:xfrm>
          <a:off x="571500" y="2524125"/>
          <a:ext cx="11049000" cy="3152772"/>
        </p:xfrm>
        <a:graphic>
          <a:graphicData uri="http://schemas.openxmlformats.org/drawingml/2006/table">
            <a:tbl>
              <a:tblPr/>
              <a:tblGrid>
                <a:gridCol w="1333500"/>
                <a:gridCol w="6762750"/>
                <a:gridCol w="2952750"/>
              </a:tblGrid>
              <a:tr h="450396">
                <a:tc>
                  <a:txBody>
                    <a:bodyPr/>
                    <a:lstStyle/>
                    <a:p>
                      <a:r>
                        <a:rPr sz="1575" b="1" dirty="0" err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575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19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评分指标</a:t>
                      </a:r>
                      <a:endParaRPr sz="15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19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预设方向</a:t>
                      </a:r>
                      <a:endParaRPr sz="15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193A50"/>
                    </a:solidFill>
                  </a:tcPr>
                </a:tc>
              </a:tr>
              <a:tr h="45039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盈利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ROE、毛利率、销售净利率（TTM</a:t>
                      </a:r>
                      <a:r>
                        <a:rPr sz="1575" b="0" dirty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sz="1575" b="0" dirty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正向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45039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成长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营收单季同比、归母净利 TTM 同比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正向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</a:tr>
              <a:tr h="45039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偿债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资产负债率、有息负债率、流动比率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负债反向，流动正向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45039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运营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总资产周转率、存货周转率（TTM）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正向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</a:tr>
              <a:tr h="45039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现金流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净现比、经营现金流／营收、销售收现比</a:t>
                      </a:r>
                      <a:endParaRPr sz="1575" b="0" dirty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正向，亏损期另解释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450396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估值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PE TTM、PB（公告日市值）</a:t>
                      </a:r>
                      <a:endParaRPr sz="157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反向，PE</a:t>
                      </a:r>
                      <a:r>
                        <a:rPr sz="1575" b="0" dirty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缺失用</a:t>
                      </a:r>
                      <a:r>
                        <a:rPr sz="1575" b="0" dirty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PB</a:t>
                      </a:r>
                      <a:endParaRPr sz="1575" b="0" dirty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552450" y="428625"/>
            <a:ext cx="111442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历史分位评分代码</a:t>
            </a:r>
            <a:endParaRPr sz="2925" b="1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11442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 dirty="0" err="1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历史窗口包含当前值，至少</a:t>
            </a:r>
            <a:r>
              <a:rPr sz="1500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sz="1500" b="0" dirty="0" err="1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个有效观测</a:t>
            </a:r>
            <a:r>
              <a:rPr sz="1500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500" b="0" dirty="0">
              <a:solidFill>
                <a:srgbClr val="6171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19850"/>
            <a:ext cx="10334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代码节选：expanding_pct、build_dimension_scores。min_p 默认值为 8。</a:t>
            </a:r>
            <a:endParaRPr sz="975" b="0">
              <a:solidFill>
                <a:srgbClr val="6171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81025" y="17240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历史分位与方向</a:t>
            </a:r>
            <a:endParaRPr sz="1950" b="1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81025" y="2266950"/>
            <a:ext cx="10953750" cy="771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percentile = </a:t>
            </a:r>
            <a:r>
              <a:rPr sz="1725" b="0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values.expanding</a:t>
            </a:r>
            <a:r>
              <a:rPr sz="1725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1725" b="0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min_periods</a:t>
            </a:r>
            <a:r>
              <a:rPr sz="1725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sz="1725" b="0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min_p</a:t>
            </a:r>
            <a:r>
              <a:rPr sz="1725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).rank(pct=True) * 100</a:t>
            </a:r>
            <a:endParaRPr sz="1725" b="0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return 100 - percentile if direction &lt; 0 else percentile</a:t>
            </a:r>
            <a:endParaRPr sz="1725" b="0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81025" y="334327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先取维度内均值，再取维度间均值</a:t>
            </a:r>
            <a:endParaRPr sz="1950" b="1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81025" y="3876675"/>
            <a:ext cx="109537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self.ind</a:t>
            </a:r>
            <a:r>
              <a:rPr sz="1725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[dimension] = </a:t>
            </a:r>
            <a:r>
              <a:rPr sz="1725" b="0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pd.concat</a:t>
            </a:r>
            <a:r>
              <a:rPr sz="1725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(scores, axis=1).mean(axis=1)</a:t>
            </a:r>
            <a:endParaRPr sz="1725" b="0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self.ind</a:t>
            </a:r>
            <a:r>
              <a:rPr sz="1725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["</a:t>
            </a:r>
            <a:r>
              <a:rPr sz="1725" b="0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基本面择时得分</a:t>
            </a:r>
            <a:r>
              <a:rPr sz="1725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"] = </a:t>
            </a:r>
            <a:r>
              <a:rPr sz="1725" b="0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self.ind</a:t>
            </a:r>
            <a:r>
              <a:rPr sz="1725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[dimensions].mean(axis=1)</a:t>
            </a:r>
            <a:endParaRPr sz="1725" b="0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81025" y="5076825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 dirty="0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 </a:t>
            </a:r>
            <a:r>
              <a:rPr sz="1950" b="1" dirty="0" err="1">
                <a:solidFill>
                  <a:srgbClr val="147F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endParaRPr sz="1950" b="1" dirty="0">
              <a:solidFill>
                <a:srgbClr val="147F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81025" y="5524500"/>
            <a:ext cx="5334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原始分位</a:t>
            </a:r>
            <a:r>
              <a:rPr sz="1800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1.96%</a:t>
            </a:r>
            <a:endParaRPr sz="1800" b="0" dirty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反向得分</a:t>
            </a:r>
            <a:r>
              <a:rPr sz="1800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100 − 1.96 = 98.04</a:t>
            </a:r>
            <a:endParaRPr sz="1800" b="0" dirty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696075" y="5076825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C57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 dirty="0" err="1">
                <a:solidFill>
                  <a:srgbClr val="C57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缺失值</a:t>
            </a:r>
            <a:r>
              <a:rPr lang="zh-CN" altLang="en-US" sz="1950" b="1" dirty="0">
                <a:solidFill>
                  <a:srgbClr val="C57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</a:t>
            </a:r>
            <a:endParaRPr sz="1950" b="1" dirty="0">
              <a:solidFill>
                <a:srgbClr val="C57B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96075" y="5524500"/>
            <a:ext cx="492442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mean </a:t>
            </a:r>
            <a:r>
              <a:rPr sz="1725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跳过</a:t>
            </a:r>
            <a:r>
              <a:rPr sz="1725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25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NaN</a:t>
            </a:r>
            <a:r>
              <a:rPr sz="1725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725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sz="1725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可用维度均值</a:t>
            </a:r>
            <a:r>
              <a:rPr sz="1725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725" b="0" dirty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 期有综合分，40 </a:t>
            </a:r>
            <a:r>
              <a:rPr sz="1725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期具备完整</a:t>
            </a:r>
            <a:r>
              <a:rPr lang="zh-CN" altLang="en-US" sz="1725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六个分数</a:t>
            </a:r>
            <a:r>
              <a:rPr sz="1725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725" b="0" dirty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552450" y="428625"/>
            <a:ext cx="111442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交叉核验与 ROE 口径</a:t>
            </a:r>
            <a:endParaRPr sz="2925" b="1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19850"/>
            <a:ext cx="10334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来源：task2_cross_check_csmar_ratios.csv；Notebook ROE 对照审计单元。</a:t>
            </a:r>
            <a:endParaRPr sz="975" b="0">
              <a:solidFill>
                <a:srgbClr val="6171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" name="表格 17"/>
          <p:cNvGraphicFramePr/>
          <p:nvPr/>
        </p:nvGraphicFramePr>
        <p:xfrm>
          <a:off x="571500" y="1885950"/>
          <a:ext cx="6267450" cy="3238504"/>
        </p:xfrm>
        <a:graphic>
          <a:graphicData uri="http://schemas.openxmlformats.org/drawingml/2006/table">
            <a:tbl>
              <a:tblPr/>
              <a:tblGrid>
                <a:gridCol w="2428875"/>
                <a:gridCol w="619125"/>
                <a:gridCol w="1590675"/>
                <a:gridCol w="1628775"/>
              </a:tblGrid>
              <a:tr h="40481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19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期数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19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193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最大差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193A50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ROE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0.991602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0.158825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毛利率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1.000000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0.000000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总资产周转率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1.000000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0.000000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存货周转率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1.000000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0.000000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资产负债率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51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1.000000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0.000000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流动比率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51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1.000000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0.000000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1F5F7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净现比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39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1.000000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7364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0.000000</a:t>
                      </a:r>
                      <a:endParaRPr sz="1425" b="0">
                        <a:solidFill>
                          <a:srgbClr val="27364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7419975" y="1876425"/>
            <a:ext cx="4286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ROE 残差来自配对口径</a:t>
            </a:r>
            <a:endParaRPr sz="1950" b="1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0" y="2390775"/>
            <a:ext cx="420052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25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</a:t>
            </a:r>
            <a:r>
              <a:rPr sz="1725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725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归母净利／平均归母权益</a:t>
            </a:r>
            <a:endParaRPr sz="1725" b="0" dirty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725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CSMAR</a:t>
            </a:r>
            <a:r>
              <a:rPr sz="1725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：合并净利／平均权益合计</a:t>
            </a:r>
            <a:endParaRPr sz="1725" b="0" dirty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386637" y="4033837"/>
            <a:ext cx="42862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ROE </a:t>
            </a:r>
            <a:r>
              <a:rPr sz="1725" b="0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保留归母股东的回报口径</a:t>
            </a:r>
            <a:r>
              <a:rPr lang="zh-CN" altLang="en-US" sz="1725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，我们还是关注母公司的实际利润会更准确。</a:t>
            </a:r>
            <a:endParaRPr sz="1725" b="0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552450" y="428625"/>
            <a:ext cx="111442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925" b="1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历史与最新季度得分</a:t>
            </a:r>
            <a:endParaRPr sz="2925" b="1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11442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2026-06-30 报告期，2026-08-21 </a:t>
            </a:r>
            <a:r>
              <a:rPr sz="1500" b="0" dirty="0" err="1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公告。分数相对自身历史，估值取公告日市值</a:t>
            </a:r>
            <a:r>
              <a:rPr sz="1500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500" b="0" dirty="0">
              <a:solidFill>
                <a:srgbClr val="6171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81025" y="1762125"/>
            <a:ext cx="6381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75" b="1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最新季度</a:t>
            </a:r>
            <a:r>
              <a:rPr sz="1875" b="1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得分</a:t>
            </a:r>
            <a:endParaRPr sz="1875" b="1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" name="Chart"/>
          <p:cNvGraphicFramePr/>
          <p:nvPr/>
        </p:nvGraphicFramePr>
        <p:xfrm>
          <a:off x="523875" y="2238375"/>
          <a:ext cx="6524625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7620000" y="2771775"/>
            <a:ext cx="3333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7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75" b="1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48.24</a:t>
            </a:r>
            <a:endParaRPr sz="4875" b="1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0" y="374332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dirty="0" err="1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综合得分</a:t>
            </a:r>
            <a:endParaRPr sz="1800" b="0" dirty="0">
              <a:solidFill>
                <a:srgbClr val="6171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0" y="4200525"/>
            <a:ext cx="3981450" cy="1057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H1 归母净利  -60.78 亿元</a:t>
            </a:r>
            <a:endParaRPr sz="1725" b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H1 经营现金流  -22.24 亿元</a:t>
            </a:r>
            <a:endParaRPr sz="1725" b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TTM 经营现金流  +104.82 亿元</a:t>
            </a:r>
            <a:endParaRPr sz="1725" b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20000" y="5495925"/>
            <a:ext cx="40005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AF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AF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 2.813 倍，历史分位 1.96%</a:t>
            </a:r>
            <a:endParaRPr sz="1650" b="0">
              <a:solidFill>
                <a:srgbClr val="AF4A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AF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AF4A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 PB 尚不足以确认盈利拐点</a:t>
            </a:r>
            <a:endParaRPr sz="1650" b="0">
              <a:solidFill>
                <a:srgbClr val="AF4A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213738" y="88624"/>
            <a:ext cx="6381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75" b="1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历史分数</a:t>
            </a:r>
            <a:endParaRPr sz="1875" b="1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275" b="22415"/>
          <a:stretch>
            <a:fillRect/>
          </a:stretch>
        </p:blipFill>
        <p:spPr>
          <a:xfrm>
            <a:off x="4739655" y="200025"/>
            <a:ext cx="6861795" cy="595685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>
            <a:spLocks noGrp="1"/>
          </p:cNvSpPr>
          <p:nvPr/>
        </p:nvSpPr>
        <p:spPr>
          <a:xfrm>
            <a:off x="552450" y="428625"/>
            <a:ext cx="111442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分组结果</a:t>
            </a:r>
            <a:endParaRPr sz="2925" b="1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419850"/>
            <a:ext cx="1033462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 为综合分最低组，Q5 </a:t>
            </a:r>
            <a:r>
              <a:rPr sz="975" b="0" dirty="0" err="1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为最高组</a:t>
            </a:r>
            <a:r>
              <a:rPr sz="975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975" b="0" dirty="0">
              <a:solidFill>
                <a:srgbClr val="6171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Chart"/>
          <p:cNvGraphicFramePr/>
          <p:nvPr/>
        </p:nvGraphicFramePr>
        <p:xfrm>
          <a:off x="523875" y="1866900"/>
          <a:ext cx="7162800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581025" y="5800725"/>
            <a:ext cx="7143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dirty="0">
                <a:solidFill>
                  <a:srgbClr val="6171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1M 样本数：Q1 21，Q2 26，Q3 24，Q4 25，Q5 25</a:t>
            </a:r>
            <a:endParaRPr sz="1425" b="0" dirty="0">
              <a:solidFill>
                <a:srgbClr val="6171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798075" y="1581150"/>
            <a:ext cx="4453559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100" b="1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两边高中间低：</a:t>
            </a:r>
            <a:r>
              <a:rPr sz="2100" b="1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Q1、Q5 </a:t>
            </a:r>
            <a:r>
              <a:rPr sz="2100" b="1" dirty="0" err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高于</a:t>
            </a:r>
            <a:r>
              <a:rPr sz="2100" b="1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Q3</a:t>
            </a:r>
            <a:endParaRPr sz="2100" b="1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39075" y="2162174"/>
            <a:ext cx="354330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 的 3M </a:t>
            </a:r>
            <a:r>
              <a:rPr sz="1800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</a:t>
            </a:r>
            <a:r>
              <a:rPr sz="1800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+10.64%</a:t>
            </a:r>
            <a:endParaRPr sz="1800" b="0" dirty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Q5 的 3M </a:t>
            </a:r>
            <a:r>
              <a:rPr sz="1800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</a:t>
            </a:r>
            <a:r>
              <a:rPr sz="1800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+13.48%</a:t>
            </a:r>
            <a:endParaRPr sz="1800" b="0" dirty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800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Q3 的 3M </a:t>
            </a:r>
            <a:r>
              <a:rPr sz="1800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</a:t>
            </a:r>
            <a:r>
              <a:rPr sz="1800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-1.85%</a:t>
            </a:r>
            <a:endParaRPr sz="1800" b="0" dirty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53362" y="3975236"/>
            <a:ext cx="35147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75" b="1" dirty="0">
                <a:solidFill>
                  <a:srgbClr val="193A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添加字段</a:t>
            </a:r>
            <a:endParaRPr sz="1875" b="1" dirty="0">
              <a:solidFill>
                <a:srgbClr val="193A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39075" y="4445068"/>
            <a:ext cx="3514725" cy="923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fund_score、fund</a:t>
            </a:r>
            <a:r>
              <a:rPr sz="1650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_&lt;</a:t>
            </a:r>
            <a:r>
              <a:rPr sz="1650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</a:t>
            </a:r>
            <a:r>
              <a:rPr sz="1650" b="0" dirty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</a:t>
            </a:r>
            <a:endParaRPr sz="1650" b="0" dirty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fund_score_ex_val</a:t>
            </a:r>
            <a:endParaRPr sz="1650" b="0" dirty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 dirty="0" err="1">
                <a:solidFill>
                  <a:srgbClr val="2736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fund_report_period</a:t>
            </a:r>
            <a:endParaRPr sz="1650" b="0" dirty="0">
              <a:solidFill>
                <a:srgbClr val="2736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25500" y="2540000"/>
            <a:ext cx="10541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第四部分　张涵（</a:t>
            </a:r>
            <a:r>
              <a:rPr lang="en-US" alt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Task 3 </a:t>
            </a:r>
            <a:r>
              <a:rPr lang="zh-CN" altLang="en-US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择时有效性检验与投资建议）</a:t>
            </a:r>
            <a:endParaRPr lang="zh-CN" altLang="en-US" sz="3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0900" y="3378200"/>
            <a:ext cx="1041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信号分组检验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回测净值与回撤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多权重策略对比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Newey-West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显著性 </a:t>
            </a:r>
            <a:r>
              <a:rPr lang="en-US" altLang="zh-CN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altLang="en-US"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投资建议卡与预期收益</a:t>
            </a:r>
            <a:endParaRPr lang="zh-CN" altLang="en-US"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425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① 检验方法：</a:t>
            </a:r>
            <a:r>
              <a:rPr lang="zh-CN"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如何</a:t>
            </a:r>
            <a:r>
              <a:rPr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分组</a:t>
            </a:r>
            <a:endParaRPr lang="zh-CN" sz="24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230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分法与数据形态一一对应</a:t>
            </a:r>
            <a:endParaRPr sz="12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267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第一类：0/1 信号 → 两分组</a:t>
            </a:r>
            <a:r>
              <a:rPr sz="14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（13 个技术信号：量比放大、均线交叉、动量为正等）</a:t>
            </a:r>
            <a:endParaRPr sz="14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信号=0 的日子（约 1400 天）一组 → Q1</a:t>
            </a:r>
            <a:endParaRPr sz="14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信号=1 的日子（约 1400 天）一组 → Q2</a:t>
            </a:r>
            <a:endParaRPr sz="14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分别算两组之后 1 / 5 / 10 / 20 / 60 个交易日的平均涨跌幅，比较 Q2 与 Q1</a:t>
            </a:r>
            <a:endParaRPr sz="14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sz="14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第二类：连续型得分/指标 → 五分位</a:t>
            </a:r>
            <a:r>
              <a:rPr sz="14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（技术面得分、基本面得分、复合得分、动量、RSI、MACD 柱等）</a:t>
            </a:r>
            <a:endParaRPr sz="14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Q1（最低）~ Q5（最高），每份约 560 天</a:t>
            </a:r>
            <a:endParaRPr sz="14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看五档的未来收益是否单调</a:t>
            </a:r>
            <a:endParaRPr sz="14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4379595"/>
            <a:ext cx="10607040" cy="865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25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未来收益统一口径</a:t>
            </a:r>
            <a:r>
              <a:rPr sz="12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：1 / 5 / 10 / 20 / 60 个交易日的平均涨跌幅，全部用后复权价（含分红送股调整）计算</a:t>
            </a:r>
            <a:endParaRPr sz="12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25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基本面按月末检验</a:t>
            </a:r>
            <a:r>
              <a:rPr sz="12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：取每个自然月最后一个交易日的得分（PIT 对齐后），与自身历史月末排位切五档，看下一 1 个月 / 3 个月的平均涨跌</a:t>
            </a:r>
            <a:endParaRPr sz="12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125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结论判定</a:t>
            </a:r>
            <a:r>
              <a:rPr sz="12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：Q2 显著高于 Q1（或 Q5 到 Q1 单调）→ 信号对未来收益有区分度</a:t>
            </a:r>
            <a:endParaRPr sz="12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26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② 检验结果：技术面与基本面的有效性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>
            <p:custDataLst>
              <p:tags r:id="rId1"/>
            </p:custDataLst>
          </p:nvPr>
        </p:nvSpPr>
        <p:spPr>
          <a:xfrm>
            <a:off x="502920" y="1280160"/>
            <a:ext cx="5394960" cy="4846320"/>
          </a:xfrm>
          <a:prstGeom prst="rect">
            <a:avLst/>
          </a:prstGeom>
          <a:solidFill>
            <a:srgbClr val="EFF3FA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731520" y="14630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技术面：20 日以上单调有效</a:t>
            </a:r>
            <a:endParaRPr sz="15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731520" y="1965960"/>
            <a:ext cx="5203190" cy="21577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量比放大</a:t>
            </a: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（20/60 日均量比≥1）：20 日 +4.14% vs +1.57%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MA20&gt;MA120</a:t>
            </a: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（20 日均线在 120 日均线上方）：60 日 +9.48% vs +6.46%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20 日动量为正</a:t>
            </a: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：60 日 +9.23% vs +6.86%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sz="1300" b="1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 1-5 日</a:t>
            </a:r>
            <a:r>
              <a:rPr lang="zh-CN"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短周期</a:t>
            </a:r>
            <a:r>
              <a:rPr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出现反转：最快均线（MA5/20）与 MACD 金叉在短周期为负</a:t>
            </a:r>
            <a:endParaRPr sz="1300" b="1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731520" y="5029200"/>
            <a:ext cx="4937760" cy="230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E6B3A"/>
                </a:solidFill>
                <a:latin typeface="微软雅黑" panose="020B0503020204020204" charset="-122"/>
                <a:ea typeface="微软雅黑" panose="020B0503020204020204" charset="-122"/>
              </a:rPr>
              <a:t>结论：趋势类信号在 20 日以上尺度有效，超短周期</a:t>
            </a:r>
            <a:r>
              <a:rPr lang="zh-CN" sz="1250" b="1" i="0">
                <a:solidFill>
                  <a:srgbClr val="1E6B3A"/>
                </a:solidFill>
                <a:latin typeface="微软雅黑" panose="020B0503020204020204" charset="-122"/>
                <a:ea typeface="微软雅黑" panose="020B0503020204020204" charset="-122"/>
              </a:rPr>
              <a:t>可能存在</a:t>
            </a:r>
            <a:r>
              <a:rPr sz="1250" b="1" i="0">
                <a:solidFill>
                  <a:srgbClr val="1E6B3A"/>
                </a:solidFill>
                <a:latin typeface="微软雅黑" panose="020B0503020204020204" charset="-122"/>
                <a:ea typeface="微软雅黑" panose="020B0503020204020204" charset="-122"/>
              </a:rPr>
              <a:t>噪音。</a:t>
            </a:r>
            <a:endParaRPr sz="1250" b="1" i="0">
              <a:solidFill>
                <a:srgbClr val="1E6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>
            <p:custDataLst>
              <p:tags r:id="rId5"/>
            </p:custDataLst>
          </p:nvPr>
        </p:nvSpPr>
        <p:spPr>
          <a:xfrm>
            <a:off x="6263640" y="1280160"/>
            <a:ext cx="5394960" cy="4846320"/>
          </a:xfrm>
          <a:prstGeom prst="rect">
            <a:avLst/>
          </a:prstGeom>
          <a:solidFill>
            <a:srgbClr val="EFF3FA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6492240" y="14630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基本面：不单调，呈 U 型</a:t>
            </a:r>
            <a:endParaRPr sz="15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6492240" y="1965960"/>
            <a:ext cx="4937760" cy="29140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基本面择时得分 Q1（最差）未来 1 个月 +5.01%、3 个月 +10.64%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Q5（最好）未来 1 个月 +4.42%、3 个月 +13.48%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中间档最差（+0.23% / -1.85%）</a:t>
            </a:r>
            <a:endParaRPr sz="1300" b="1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sz="1300" b="1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U 型 = 两端好、中间差</a:t>
            </a: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：得分最低和最高两档未来都涨，中间反而不涨。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可能</a:t>
            </a: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原因：牧原是深周期股——</a:t>
            </a:r>
            <a:r>
              <a:rPr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盈利/效率最差时往往是周期底部（左侧买点）</a:t>
            </a: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估值维度同样</a:t>
            </a:r>
            <a:r>
              <a:rPr lang="zh-CN"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呈现类似规律</a:t>
            </a: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：PE 最低分位（盈利爆表期）3 个月 +38.2%，PB 极高（深度亏损期）也</a:t>
            </a:r>
            <a:r>
              <a:rPr lang="zh-CN"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会出现</a:t>
            </a: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反弹。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6492240" y="5029200"/>
            <a:ext cx="4937760" cy="230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E6B3A"/>
                </a:solidFill>
                <a:latin typeface="微软雅黑" panose="020B0503020204020204" charset="-122"/>
                <a:ea typeface="微软雅黑" panose="020B0503020204020204" charset="-122"/>
              </a:rPr>
              <a:t>结论：基本面得分不能当“越高越好”用，两端是</a:t>
            </a:r>
            <a:r>
              <a:rPr lang="zh-CN" sz="1250" b="1" i="0">
                <a:solidFill>
                  <a:srgbClr val="1E6B3A"/>
                </a:solidFill>
                <a:latin typeface="微软雅黑" panose="020B0503020204020204" charset="-122"/>
                <a:ea typeface="微软雅黑" panose="020B0503020204020204" charset="-122"/>
              </a:rPr>
              <a:t>潜在</a:t>
            </a:r>
            <a:r>
              <a:rPr sz="1250" b="1" i="0">
                <a:solidFill>
                  <a:srgbClr val="1E6B3A"/>
                </a:solidFill>
                <a:latin typeface="微软雅黑" panose="020B0503020204020204" charset="-122"/>
                <a:ea typeface="微软雅黑" panose="020B0503020204020204" charset="-122"/>
              </a:rPr>
              <a:t>买点。</a:t>
            </a:r>
            <a:endParaRPr sz="1250" b="1" i="0">
              <a:solidFill>
                <a:srgbClr val="1E6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2920" y="777240"/>
            <a:ext cx="1103439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sz="12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本部分因篇幅原因只汇报值得注意的结论；完整二分位结果见附录，连续指标（</a:t>
            </a:r>
            <a:r>
              <a:rPr lang="zh-CN" sz="12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技术面得分</a:t>
            </a:r>
            <a:r>
              <a:rPr sz="12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等）五分位见报告表 8，基本面五分位见表 9。</a:t>
            </a:r>
            <a:endParaRPr sz="12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27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425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③ 回测：净值与回撤（信号策略 vs 买入持有）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回测规则：得分≥60 持有、&lt;60 空仓；T+1 执行、双边手续费、涨跌停一字板不可成交顺延</a:t>
            </a:r>
            <a:endParaRPr sz="12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0" y="1371600"/>
            <a:ext cx="4206240" cy="32315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上：净值曲线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深色线（买入持有）最高，12 年约 16.7 倍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彩色线（各择时策略）普遍更低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下：回撤曲线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买入持有最深回撤 -63.7%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择时策略回撤明显更浅（-35.6% ~ -56%）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：择时在收益上不占优，但降低了波动与回撤——风险控制价值 &gt; 收益增强价值。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6" descr="task3_backte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6949440" cy="427657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28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425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④ 回测绩效：</a:t>
            </a:r>
            <a:r>
              <a:rPr lang="zh-CN"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技术面单信号策略与</a:t>
            </a:r>
            <a:r>
              <a:rPr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整体策略对比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收益/波动/夏普/回撤/净值 五个核心指标对比（已含交易成本）</a:t>
            </a:r>
            <a:endParaRPr sz="12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9784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822960"/>
                <a:gridCol w="914400"/>
                <a:gridCol w="822960"/>
                <a:gridCol w="731520"/>
                <a:gridCol w="1005840"/>
                <a:gridCol w="91440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策略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年化收益%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年化波动%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夏普比率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最大回撤%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净值终点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胜率%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持仓天数占比%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换手次数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交易成本累计%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74320">
                <a:tc gridSpan="10">
                  <a:txBody>
                    <a:bodyPr/>
                    <a:lstStyle/>
                    <a:p>
                      <a:pPr algn="ctr"/>
                      <a:r>
                        <a:rPr sz="950">
                          <a:latin typeface="微软雅黑" panose="020B0503020204020204" charset="-122"/>
                          <a:ea typeface="微软雅黑" panose="020B0503020204020204" charset="-122"/>
                        </a:rPr>
                        <a:t>—— 单信号策略</a:t>
                      </a:r>
                      <a:r>
                        <a:rPr lang="zh-CN" sz="950">
                          <a:latin typeface="微软雅黑" panose="020B0503020204020204" charset="-122"/>
                          <a:ea typeface="微软雅黑" panose="020B0503020204020204" charset="-122"/>
                        </a:rPr>
                        <a:t>（技术面）</a:t>
                      </a:r>
                      <a:r>
                        <a:rPr sz="950">
                          <a:latin typeface="微软雅黑" panose="020B0503020204020204" charset="-122"/>
                          <a:ea typeface="微软雅黑" panose="020B0503020204020204" charset="-122"/>
                        </a:rPr>
                        <a:t> ——</a:t>
                      </a:r>
                      <a:endParaRPr sz="9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sig_ma_60_250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22.35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39.81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0.56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-68.43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10.48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50.11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63.63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sig_mom_60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7.62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35.86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0.21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-67.61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2.35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46.38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55.82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153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7.62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sig_rsi_50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18.62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33.47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0.56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-51.68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7.31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44.2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52.94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309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15.42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sig_vol_expand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24.94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34.47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-53.7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13.38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49.5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48.7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104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5.2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74320">
                <a:tc gridSpan="10">
                  <a:txBody>
                    <a:bodyPr/>
                    <a:lstStyle/>
                    <a:p>
                      <a:pPr algn="ctr"/>
                      <a:r>
                        <a:rPr sz="950">
                          <a:latin typeface="微软雅黑" panose="020B0503020204020204" charset="-122"/>
                          <a:ea typeface="微软雅黑" panose="020B0503020204020204" charset="-122"/>
                        </a:rPr>
                        <a:t>—— 综合得分策略——</a:t>
                      </a:r>
                      <a:endParaRPr sz="9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技术面得分≥60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10.63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34.23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0.31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-56.12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3.24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47.4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47.17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5.6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微软雅黑" panose="020B0503020204020204" charset="-122"/>
                          <a:ea typeface="微软雅黑" panose="020B0503020204020204" charset="-122"/>
                        </a:rPr>
                        <a:t>基本面得分≥60</a:t>
                      </a:r>
                      <a:endParaRPr sz="9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微软雅黑" panose="020B0503020204020204" charset="-122"/>
                          <a:ea typeface="微软雅黑" panose="020B0503020204020204" charset="-122"/>
                        </a:rPr>
                        <a:t>7.26</a:t>
                      </a:r>
                      <a:endParaRPr sz="9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微软雅黑" panose="020B0503020204020204" charset="-122"/>
                          <a:ea typeface="微软雅黑" panose="020B0503020204020204" charset="-122"/>
                        </a:rPr>
                        <a:t>23.0</a:t>
                      </a:r>
                      <a:endParaRPr sz="9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微软雅黑" panose="020B0503020204020204" charset="-122"/>
                          <a:ea typeface="微软雅黑" panose="020B0503020204020204" charset="-122"/>
                        </a:rPr>
                        <a:t>0.316</a:t>
                      </a:r>
                      <a:endParaRPr sz="9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微软雅黑" panose="020B0503020204020204" charset="-122"/>
                          <a:ea typeface="微软雅黑" panose="020B0503020204020204" charset="-122"/>
                        </a:rPr>
                        <a:t>-54.15</a:t>
                      </a:r>
                      <a:endParaRPr sz="9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微软雅黑" panose="020B0503020204020204" charset="-122"/>
                          <a:ea typeface="微软雅黑" panose="020B0503020204020204" charset="-122"/>
                        </a:rPr>
                        <a:t>2.263</a:t>
                      </a:r>
                      <a:endParaRPr sz="9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微软雅黑" panose="020B0503020204020204" charset="-122"/>
                          <a:ea typeface="微软雅黑" panose="020B0503020204020204" charset="-122"/>
                        </a:rPr>
                        <a:t>48.79</a:t>
                      </a:r>
                      <a:endParaRPr sz="9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微软雅黑" panose="020B0503020204020204" charset="-122"/>
                          <a:ea typeface="微软雅黑" panose="020B0503020204020204" charset="-122"/>
                        </a:rPr>
                        <a:t>36.91</a:t>
                      </a:r>
                      <a:endParaRPr sz="9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9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sz="9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复合得分≥60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10.9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25.99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-43.38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3.34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48.27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35.7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98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4.9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买入持有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27.35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44.19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-63.73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16.71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8785" y="4450080"/>
            <a:ext cx="11155680" cy="1615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列名说明：</a:t>
            </a:r>
            <a:endParaRPr sz="10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· 年化收益/波动：把 12 年总收益折算成每年百分比</a:t>
            </a:r>
            <a:endParaRPr sz="10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· 夏普比率：每承担 1 份波动换回几份收益（性价比）</a:t>
            </a:r>
            <a:endParaRPr sz="10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· 最大回撤：历史最惨时从最高点往下亏损的幅度</a:t>
            </a:r>
            <a:endParaRPr sz="10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· 净值终点：1 元本金按策略滚到最后的值；胜率：赚钱的交易日占比</a:t>
            </a:r>
            <a:endParaRPr sz="10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· 持仓天数占比：策略有持仓的日子占比；换手次数：买卖切换的次数</a:t>
            </a:r>
            <a:endParaRPr sz="10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· 交易成本累计：全部手续费/印花税合计</a:t>
            </a:r>
            <a:endParaRPr sz="10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8785" y="6228715"/>
            <a:ext cx="11155680" cy="2393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结论：收益上买入持有最优（年化 22.5%）；择时策略在回撤（-63.7%→-43.4%）与持仓风险上明显更优；高频信号（RSI ）交易成本</a:t>
            </a:r>
            <a:r>
              <a:rPr lang="zh-CN"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过高（</a:t>
            </a:r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15.4%</a:t>
            </a:r>
            <a:r>
              <a:rPr lang="zh-CN"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29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425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⑤ </a:t>
            </a: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回测绩效：</a:t>
            </a:r>
            <a:r>
              <a:rPr lang="zh-CN"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基本面单信号策略与多种得分权重</a:t>
            </a:r>
            <a:r>
              <a:rPr sz="2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策略对比</a:t>
            </a:r>
            <a:r>
              <a:rPr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230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每个基本面维度单独作为择时信号（≥60 持有），与同一段历史里的买入持有对比</a:t>
            </a:r>
            <a:r>
              <a:rPr lang="zh-CN" sz="12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 altLang="en-US" sz="12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本页仅展示主要结论，完整结果见报告表 11。</a:t>
            </a:r>
            <a:endParaRPr lang="zh-CN" altLang="en-US" sz="12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005840"/>
                <a:gridCol w="914400"/>
                <a:gridCol w="1097280"/>
                <a:gridCol w="18288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策略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年化收益%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夏普比率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最大回撤%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相对同窗口年化超额%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回撤改善pct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tech_score≥60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10.63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0.31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-56.12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-16.72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7.61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fund_盈利能力≥60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0.45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-54.15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-12.96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9.58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fund_成长能力≥60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8.78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0.44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-39.48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-15.15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24.25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fund_偿债能力≥60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12.02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0.47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-46.58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-10.51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17.15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fund_运营效率≥60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1.57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0.07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-55.2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-22.36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8.53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fund_现金流质量≥60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14.92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-54.15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-8.06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9.58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fund_估值水平≥60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2.64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-62.66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-19.89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1.07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 gridSpan="6">
                  <a:txBody>
                    <a:bodyPr/>
                    <a:lstStyle/>
                    <a:p>
                      <a:pPr algn="ctr"/>
                      <a:r>
                        <a:rPr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—— 权重网格：技术/基本面</a:t>
                      </a:r>
                      <a:r>
                        <a:rPr 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得分多</a:t>
                      </a:r>
                      <a:r>
                        <a:rPr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种配比</a:t>
                      </a:r>
                      <a:r>
                        <a:rPr 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（仅展示</a:t>
                      </a:r>
                      <a:r>
                        <a:rPr lang="en-US" altLang="zh-CN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种）</a:t>
                      </a:r>
                      <a:r>
                        <a:rPr sz="900">
                          <a:latin typeface="微软雅黑" panose="020B0503020204020204" charset="-122"/>
                          <a:ea typeface="微软雅黑" panose="020B0503020204020204" charset="-122"/>
                        </a:rPr>
                        <a:t> ——</a:t>
                      </a:r>
                      <a:endParaRPr sz="9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  <a:tc hMerge="1">
                  <a:tcPr anchor="ctr"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复合 w_tech=0.25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8.81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0.37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-35.62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-13.72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28.11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复合 w_tech=0.50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10.9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-43.38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-11.63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20.35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434840"/>
            <a:ext cx="11155680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列名说明：</a:t>
            </a:r>
            <a:endParaRPr sz="10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· 相对同窗口年化超额：与买入持有比较时，只取「同一段历史区间」——避免早期没有得分的日子拉低对比</a:t>
            </a:r>
            <a:endParaRPr sz="10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· 回撤改善 pct：策略最大回撤 − 同段买入持有最大回撤</a:t>
            </a:r>
            <a:endParaRPr sz="10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· 权重网格：w_tech = 技术面得分占比，其余为基本面（如 0.25 = 技术 25% + 基本面 75%）</a:t>
            </a:r>
            <a:endParaRPr sz="10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7150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结论：现金流质量维度择时最有效（夏普 0.520）；技术/基本面 50:50 时整体夏普最高（0.419）——与题目 baseline 一致；若以控制回撤为目标，技术面 25% 配比回撤最小（-35.6%）。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⑥ 统计显著性：普通回归 vs Newey-West 修正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用“当日综合得分”对“未来 N 日收益”做回归，检验得分对未来收益的预测力</a:t>
            </a:r>
            <a:endParaRPr sz="12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6126480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463040"/>
                <a:gridCol w="1463040"/>
                <a:gridCol w="1280160"/>
                <a:gridCol w="1097280"/>
              </a:tblGrid>
              <a:tr h="274319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持有期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斜率(每+50分)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NeweyWest_t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普通OLS_t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样本数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20日</a:t>
                      </a:r>
                      <a:endParaRPr sz="10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1.13</a:t>
                      </a:r>
                      <a:endParaRPr sz="10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0.48</a:t>
                      </a:r>
                      <a:endParaRPr sz="10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1.57</a:t>
                      </a:r>
                      <a:endParaRPr sz="10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2643</a:t>
                      </a:r>
                      <a:endParaRPr sz="10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1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60日</a:t>
                      </a:r>
                      <a:endParaRPr sz="10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0.35</a:t>
                      </a:r>
                      <a:endParaRPr sz="10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0.06</a:t>
                      </a:r>
                      <a:endParaRPr sz="10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0.25</a:t>
                      </a:r>
                      <a:endParaRPr sz="10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2603</a:t>
                      </a:r>
                      <a:endParaRPr sz="10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20255" y="1180465"/>
            <a:ext cx="465455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因</a:t>
            </a: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未来 20 日收益在相邻两天高度重叠，普通 t 值会高估规律</a:t>
            </a:r>
            <a:r>
              <a:rPr lang="zh-CN"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，本报告还选取</a:t>
            </a:r>
            <a:r>
              <a:rPr sz="1300" b="1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Newey-West</a:t>
            </a:r>
            <a:r>
              <a:rPr lang="zh-CN" sz="130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进一步检验：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r>
              <a:rPr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：20 日斜率 +1.13%，普通 t=1.57 → 严格修正后 t=0.48，</a:t>
            </a:r>
            <a:r>
              <a:rPr sz="130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不再显著</a:t>
            </a:r>
            <a:r>
              <a:rPr sz="130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0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356616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分时段稳定性（高分组≥60 − 低分组&lt;40 的未来收益价差）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977639"/>
          <a:ext cx="60350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46304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子区间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价差_20日%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价差_60日%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2015-06-12 ~ 2018 熊市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-2.12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0.64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2019 ~ 2021 非洲猪瘟后涨价周期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-4.39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-5.75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2022 ~ 2024 产能过载与亏损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-2.72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-12.41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2025 ~ 至今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2.8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-1.9</a:t>
                      </a:r>
                      <a:endParaRPr sz="9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76072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结论：价差在 2015-2018 / 2019-2021 / 2022-2024 三段为负，仅 2025 年以来为正——择时规律跨时段不稳定，最需要它的 2022-2024 亏损期反而是反向的。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31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⑦ 投资建议卡（含同花顺对比）与总结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4695" y="822960"/>
            <a:ext cx="4937760" cy="2885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250" b="1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我们的</a:t>
            </a:r>
            <a:r>
              <a:rPr sz="1250" b="1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预测逻辑</a:t>
            </a:r>
            <a:r>
              <a:rPr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：把历史中综合分同样落在 Q3 档的 519 天找出来，统计它们之后的真实收益分布——预测是分布而非点估计。</a:t>
            </a:r>
            <a:endParaRPr sz="125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1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区间极宽 + 显著性不显著 → 当前不宜做方向性下注</a:t>
            </a:r>
            <a:r>
              <a:rPr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sz="1250" b="1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综合得分 51.9 / 100 → 评级：中性</a:t>
            </a:r>
            <a:endParaRPr sz="1250" b="1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技术面 55.6 / 基本面 48.2（50:50 合成）</a:t>
            </a:r>
            <a:endParaRPr sz="125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未来 1 个月</a:t>
            </a:r>
            <a:r>
              <a:rPr sz="125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：均值 -0.55%，中位数 -1.36%</a:t>
            </a:r>
            <a:endParaRPr sz="125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25-75% 区间 [-7.12%, +4.58%]，历史胜率 43.9%</a:t>
            </a:r>
            <a:endParaRPr sz="125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未来 3 个月</a:t>
            </a:r>
            <a:r>
              <a:rPr sz="125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：均值 +3.15%，中位数 -2.51%</a:t>
            </a:r>
            <a:endParaRPr sz="125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25-75% 区间 [-13.29%, +10.88%]，历史胜率 46.1%</a:t>
            </a:r>
            <a:endParaRPr sz="125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sz="125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7675" y="3708400"/>
            <a:ext cx="9772015" cy="23082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25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lang="zh-CN" sz="1250" b="1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sz="125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1. 技术面趋势信号在 20 日以上尺度有效；</a:t>
            </a:r>
            <a:endParaRPr sz="125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2. 基本面得分呈 U 型：周期股在盈利/估值两端出现买点，不适用“越高越好”；</a:t>
            </a:r>
            <a:endParaRPr sz="125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3. 所有择时策略的收益均低于买入持有，但回撤与波动显著更低；</a:t>
            </a:r>
            <a:endParaRPr sz="125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4. 严格显著性检验下预测力不显著，规律跨时段不稳定；</a:t>
            </a:r>
            <a:endParaRPr sz="125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sz="125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因此给出中性评级与收益区间，并如实说明不确定性——这对深周期龙头的可操作含义是：</a:t>
            </a:r>
            <a:r>
              <a:rPr sz="1250" b="1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趋势与风险控制优于频繁择时</a:t>
            </a:r>
            <a:r>
              <a:rPr sz="1250" b="0" i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250" b="0" i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3093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风险提示：猪价持续低迷 / 产能去化不及预期 / 高杠杆再融资压力（详见报告第 6 章）</a:t>
            </a:r>
            <a:endParaRPr sz="11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66460" y="822960"/>
            <a:ext cx="5394960" cy="168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1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与同花顺 AI 诊股对比</a:t>
            </a:r>
            <a:endParaRPr sz="11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1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同花顺：综合 6.0 分（打败 93% 的股票），评级“增持”（技术 7.0 / 基本面 5.7 / 资金 5.7 / 消息 5.5 / 行业 3.1）</a:t>
            </a:r>
            <a:endParaRPr sz="11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1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我们：综合 51.9 分 → 中性</a:t>
            </a:r>
            <a:endParaRPr sz="11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11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· 分歧根源：参照系不同——它和全市场比，我们和牧原自身 12 年历史比；且我们给出历史胜率（未来 1 个月 43.9%），同花顺只给评级不给胜率。</a:t>
            </a:r>
            <a:endParaRPr sz="11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2090" y="184785"/>
            <a:ext cx="11155680" cy="774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附录：</a:t>
            </a:r>
            <a:endParaRPr lang="zh-CN" altLang="en-US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13 个信号的两分组结果</a:t>
            </a:r>
            <a:endParaRPr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961130" y="283845"/>
          <a:ext cx="8124190" cy="640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695"/>
                <a:gridCol w="744220"/>
                <a:gridCol w="746125"/>
                <a:gridCol w="1422400"/>
                <a:gridCol w="1410335"/>
                <a:gridCol w="1415415"/>
              </a:tblGrid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分组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天数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未来5日收益%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未来20日收益%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未来60日收益%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ma&gt;5&gt;20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Q1(信号=0)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1349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1.09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3.01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7.81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ma&gt;5&gt;20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Q2(信号=1)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1458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0.39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2.67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8.45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ma&gt;10&gt;60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Q1(信号=0)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1310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0.78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2.65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6.76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ma&gt;10&gt;60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Q2(信号=1)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1497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0.68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9.38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ma&gt;20&gt;120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Q1(信号=0)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1262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0.56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2.09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6.46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ma&gt;20&gt;120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Q2(信号=1)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1545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0.86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3.45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9.48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ma&gt;60&gt;250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Q1(信号=0)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1021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1.94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9.29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ma&gt;60&gt;250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Q2(信号=1)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1786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0.89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3.33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7.52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mom&gt;20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Q1(信号=0)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1268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2.26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6.86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mom&gt;20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Q2(信号=1)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1539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0.88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3.31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9.23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mom&gt;60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Q1(信号=0)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1239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0.75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2.82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6.71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mom&gt;60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Q2(信号=1)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1568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0.71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2.84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9.28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mom&gt;120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Q1(信号=0)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1201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0.58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2.44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7.15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mom&gt;120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Q2(信号=1)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1606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0.83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3.12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8.85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mom&gt;250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Q1(信号=0)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932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2.81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10.01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mom&gt;250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Q2(信号=1)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1875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0.77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2.84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7.27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vwma&gt;5&gt;30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Q1(信号=0)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1320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0.77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2.54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7.13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vwma&gt;5&gt;30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Q2(信号=1)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1487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0.68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3.1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9.07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vwma&gt;10&gt;60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Q1(信号=0)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1344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0.77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6.53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vwma&gt;10&gt;60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Q2(信号=1)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1463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0.69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3.14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9.67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vol&gt;expand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Q1(信号=0)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1440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0.31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1.57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8.16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vol&gt;expand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Q2(信号=1)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1367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1.16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4.14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8.11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rsi&gt;50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Q1(信号=0)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1319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0.65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2.61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7.16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rsi&gt;50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Q2(信号=1)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1488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0.79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3.03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9.03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macd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Q1(信号=0)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1364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2.94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8.48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macd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Q2(信号=1)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1443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0.62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2.73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7.82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boll&gt;mid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Q1(信号=0)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1344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2.65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7.29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boll&gt;mid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Q2(信号=1)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1463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0.66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3.0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B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8.93</a:t>
                      </a:r>
                      <a:endParaRPr sz="850" b="0" i="0">
                        <a:solidFill>
                          <a:srgbClr val="262B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75920" y="1782445"/>
            <a:ext cx="3578860" cy="22929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sz="125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多数趋势信号在 20/60 日为 Q2&gt;Q1（上方列）；但也有明显反例——MA5&gt;MA20、MACD 在短周期为负（下方列）。全部结果如实呈现，未做筛选；连续指标（tech_score 等）五分位见报告表 8，基本面五分位见表 9。</a:t>
            </a:r>
            <a:endParaRPr sz="125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33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8755" y="2517140"/>
            <a:ext cx="11155680" cy="1624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88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88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谢谢大家！</a:t>
            </a:r>
            <a:endParaRPr lang="zh-CN" sz="88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303000" y="6350000"/>
            <a:ext cx="66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11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34</a:t>
            </a:r>
            <a:endParaRPr lang="zh-CN" altLang="en-US" sz="11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ORD" val="o1"/>
</p:tagLst>
</file>

<file path=ppt/tags/tag2.xml><?xml version="1.0" encoding="utf-8"?>
<p:tagLst xmlns:p="http://schemas.openxmlformats.org/presentationml/2006/main">
  <p:tag name="ORD" val="div1"/>
</p:tagLst>
</file>

<file path=ppt/tags/tag3.xml><?xml version="1.0" encoding="utf-8"?>
<p:tagLst xmlns:p="http://schemas.openxmlformats.org/presentationml/2006/main">
  <p:tag name="ORD" val="1号_1"/>
</p:tagLst>
</file>

<file path=ppt/tags/tag4.xml><?xml version="1.0" encoding="utf-8"?>
<p:tagLst xmlns:p="http://schemas.openxmlformats.org/presentationml/2006/main">
  <p:tag name="ORD" val="1号_2"/>
</p:tagLst>
</file>

<file path=ppt/tags/tag5.xml><?xml version="1.0" encoding="utf-8"?>
<p:tagLst xmlns:p="http://schemas.openxmlformats.org/presentationml/2006/main">
  <p:tag name="ORD" val="1号_3"/>
</p:tagLst>
</file>

<file path=ppt/tags/tag6.xml><?xml version="1.0" encoding="utf-8"?>
<p:tagLst xmlns:p="http://schemas.openxmlformats.org/presentationml/2006/main">
  <p:tag name="ORD" val="1号_4"/>
</p:tagLst>
</file>

<file path=ppt/tags/tag7.xml><?xml version="1.0" encoding="utf-8"?>
<p:tagLst xmlns:p="http://schemas.openxmlformats.org/presentationml/2006/main">
  <p:tag name="ORD" val="1号_5"/>
</p:tagLst>
</file>

<file path=ppt/tags/tag8.xml><?xml version="1.0" encoding="utf-8"?>
<p:tagLst xmlns:p="http://schemas.openxmlformats.org/presentationml/2006/main">
  <p:tag name="ORD" val="1号_6"/>
</p:tagLst>
</file>

<file path=ppt/tags/tag9.xml><?xml version="1.0" encoding="utf-8"?>
<p:tagLst xmlns:p="http://schemas.openxmlformats.org/presentationml/2006/main">
  <p:tag name="ORD" val="1号_7"/>
</p:tagLst>
</file>

<file path=ppt/tags/tag10.xml><?xml version="1.0" encoding="utf-8"?>
<p:tagLst xmlns:p="http://schemas.openxmlformats.org/presentationml/2006/main">
  <p:tag name="ORD" val="div2"/>
</p:tagLst>
</file>

<file path=ppt/tags/tag11.xml><?xml version="1.0" encoding="utf-8"?>
<p:tagLst xmlns:p="http://schemas.openxmlformats.org/presentationml/2006/main">
  <p:tag name="ORD" val="2号_1"/>
</p:tagLst>
</file>

<file path=ppt/tags/tag12.xml><?xml version="1.0" encoding="utf-8"?>
<p:tagLst xmlns:p="http://schemas.openxmlformats.org/presentationml/2006/main">
  <p:tag name="ORD" val="2号_2"/>
</p:tagLst>
</file>

<file path=ppt/tags/tag13.xml><?xml version="1.0" encoding="utf-8"?>
<p:tagLst xmlns:p="http://schemas.openxmlformats.org/presentationml/2006/main">
  <p:tag name="ORD" val="2号_3"/>
</p:tagLst>
</file>

<file path=ppt/tags/tag14.xml><?xml version="1.0" encoding="utf-8"?>
<p:tagLst xmlns:p="http://schemas.openxmlformats.org/presentationml/2006/main">
  <p:tag name="ORD" val="2号_4"/>
</p:tagLst>
</file>

<file path=ppt/tags/tag15.xml><?xml version="1.0" encoding="utf-8"?>
<p:tagLst xmlns:p="http://schemas.openxmlformats.org/presentationml/2006/main">
  <p:tag name="ORD" val="2号_5"/>
</p:tagLst>
</file>

<file path=ppt/tags/tag16.xml><?xml version="1.0" encoding="utf-8"?>
<p:tagLst xmlns:p="http://schemas.openxmlformats.org/presentationml/2006/main">
  <p:tag name="ORD" val="2号_6"/>
</p:tagLst>
</file>

<file path=ppt/tags/tag17.xml><?xml version="1.0" encoding="utf-8"?>
<p:tagLst xmlns:p="http://schemas.openxmlformats.org/presentationml/2006/main">
  <p:tag name="ORD" val="div3"/>
</p:tagLst>
</file>

<file path=ppt/tags/tag18.xml><?xml version="1.0" encoding="utf-8"?>
<p:tagLst xmlns:p="http://schemas.openxmlformats.org/presentationml/2006/main">
  <p:tag name="ORD" val="3号_1"/>
</p:tagLst>
</file>

<file path=ppt/tags/tag19.xml><?xml version="1.0" encoding="utf-8"?>
<p:tagLst xmlns:p="http://schemas.openxmlformats.org/presentationml/2006/main">
  <p:tag name="ORD" val="3号_2"/>
</p:tagLst>
</file>

<file path=ppt/tags/tag20.xml><?xml version="1.0" encoding="utf-8"?>
<p:tagLst xmlns:p="http://schemas.openxmlformats.org/presentationml/2006/main">
  <p:tag name="ORD" val="3号_3"/>
</p:tagLst>
</file>

<file path=ppt/tags/tag21.xml><?xml version="1.0" encoding="utf-8"?>
<p:tagLst xmlns:p="http://schemas.openxmlformats.org/presentationml/2006/main">
  <p:tag name="ORD" val="3号_4"/>
</p:tagLst>
</file>

<file path=ppt/tags/tag22.xml><?xml version="1.0" encoding="utf-8"?>
<p:tagLst xmlns:p="http://schemas.openxmlformats.org/presentationml/2006/main">
  <p:tag name="ORD" val="3号_5"/>
</p:tagLst>
</file>

<file path=ppt/tags/tag23.xml><?xml version="1.0" encoding="utf-8"?>
<p:tagLst xmlns:p="http://schemas.openxmlformats.org/presentationml/2006/main">
  <p:tag name="ORD" val="3号_6"/>
</p:tagLst>
</file>

<file path=ppt/tags/tag24.xml><?xml version="1.0" encoding="utf-8"?>
<p:tagLst xmlns:p="http://schemas.openxmlformats.org/presentationml/2006/main">
  <p:tag name="ORD" val="3号_7"/>
</p:tagLst>
</file>

<file path=ppt/tags/tag25.xml><?xml version="1.0" encoding="utf-8"?>
<p:tagLst xmlns:p="http://schemas.openxmlformats.org/presentationml/2006/main">
  <p:tag name="ORD" val="div4"/>
</p:tagLst>
</file>

<file path=ppt/tags/tag26.xml><?xml version="1.0" encoding="utf-8"?>
<p:tagLst xmlns:p="http://schemas.openxmlformats.org/presentationml/2006/main">
  <p:tag name="ORD" val="o2"/>
</p:tagLst>
</file>

<file path=ppt/tags/tag27.xml><?xml version="1.0" encoding="utf-8"?>
<p:tagLst xmlns:p="http://schemas.openxmlformats.org/presentationml/2006/main">
  <p:tag name="KSO_WM_DIAGRAM_VIRTUALLY_FRAME" val="{&quot;height&quot;:381.6,&quot;left&quot;:39.6,&quot;top&quot;:100.8,&quot;width&quot;:878.4}"/>
</p:tagLst>
</file>

<file path=ppt/tags/tag28.xml><?xml version="1.0" encoding="utf-8"?>
<p:tagLst xmlns:p="http://schemas.openxmlformats.org/presentationml/2006/main">
  <p:tag name="KSO_WM_DIAGRAM_VIRTUALLY_FRAME" val="{&quot;height&quot;:381.6,&quot;left&quot;:39.6,&quot;top&quot;:100.8,&quot;width&quot;:878.4}"/>
</p:tagLst>
</file>

<file path=ppt/tags/tag29.xml><?xml version="1.0" encoding="utf-8"?>
<p:tagLst xmlns:p="http://schemas.openxmlformats.org/presentationml/2006/main">
  <p:tag name="KSO_WM_DIAGRAM_VIRTUALLY_FRAME" val="{&quot;height&quot;:381.6,&quot;left&quot;:39.6,&quot;top&quot;:100.8,&quot;width&quot;:878.4}"/>
</p:tagLst>
</file>

<file path=ppt/tags/tag30.xml><?xml version="1.0" encoding="utf-8"?>
<p:tagLst xmlns:p="http://schemas.openxmlformats.org/presentationml/2006/main">
  <p:tag name="KSO_WM_DIAGRAM_VIRTUALLY_FRAME" val="{&quot;height&quot;:381.6,&quot;left&quot;:39.6,&quot;top&quot;:100.8,&quot;width&quot;:878.4}"/>
</p:tagLst>
</file>

<file path=ppt/tags/tag31.xml><?xml version="1.0" encoding="utf-8"?>
<p:tagLst xmlns:p="http://schemas.openxmlformats.org/presentationml/2006/main">
  <p:tag name="KSO_WM_DIAGRAM_VIRTUALLY_FRAME" val="{&quot;height&quot;:381.6,&quot;left&quot;:39.6,&quot;top&quot;:100.8,&quot;width&quot;:878.4}"/>
</p:tagLst>
</file>

<file path=ppt/tags/tag32.xml><?xml version="1.0" encoding="utf-8"?>
<p:tagLst xmlns:p="http://schemas.openxmlformats.org/presentationml/2006/main">
  <p:tag name="KSO_WM_DIAGRAM_VIRTUALLY_FRAME" val="{&quot;height&quot;:381.6,&quot;left&quot;:39.6,&quot;top&quot;:100.8,&quot;width&quot;:878.4}"/>
</p:tagLst>
</file>

<file path=ppt/tags/tag33.xml><?xml version="1.0" encoding="utf-8"?>
<p:tagLst xmlns:p="http://schemas.openxmlformats.org/presentationml/2006/main">
  <p:tag name="KSO_WM_DIAGRAM_VIRTUALLY_FRAME" val="{&quot;height&quot;:381.6,&quot;left&quot;:39.6,&quot;top&quot;:100.8,&quot;width&quot;:878.4}"/>
</p:tagLst>
</file>

<file path=ppt/tags/tag34.xml><?xml version="1.0" encoding="utf-8"?>
<p:tagLst xmlns:p="http://schemas.openxmlformats.org/presentationml/2006/main">
  <p:tag name="KSO_WM_DIAGRAM_VIRTUALLY_FRAME" val="{&quot;height&quot;:381.6,&quot;left&quot;:39.6,&quot;top&quot;:100.8,&quot;width&quot;:878.4}"/>
</p:tagLst>
</file>

<file path=ppt/tags/tag35.xml><?xml version="1.0" encoding="utf-8"?>
<p:tagLst xmlns:p="http://schemas.openxmlformats.org/presentationml/2006/main">
  <p:tag name="ORD" val="o3"/>
</p:tagLst>
</file>

<file path=ppt/tags/tag36.xml><?xml version="1.0" encoding="utf-8"?>
<p:tagLst xmlns:p="http://schemas.openxmlformats.org/presentationml/2006/main">
  <p:tag name="ORD" val="o4"/>
</p:tagLst>
</file>

<file path=ppt/tags/tag37.xml><?xml version="1.0" encoding="utf-8"?>
<p:tagLst xmlns:p="http://schemas.openxmlformats.org/presentationml/2006/main">
  <p:tag name="ORD" val="o5"/>
</p:tagLst>
</file>

<file path=ppt/tags/tag38.xml><?xml version="1.0" encoding="utf-8"?>
<p:tagLst xmlns:p="http://schemas.openxmlformats.org/presentationml/2006/main">
  <p:tag name="ORD" val="o6"/>
</p:tagLst>
</file>

<file path=ppt/tags/tag39.xml><?xml version="1.0" encoding="utf-8"?>
<p:tagLst xmlns:p="http://schemas.openxmlformats.org/presentationml/2006/main">
  <p:tag name="ORD" val="o7"/>
</p:tagLst>
</file>

<file path=ppt/tags/tag40.xml><?xml version="1.0" encoding="utf-8"?>
<p:tagLst xmlns:p="http://schemas.openxmlformats.org/presentationml/2006/main">
  <p:tag name="ORD" val="o8"/>
</p:tagLst>
</file>

<file path=ppt/tags/tag41.xml><?xml version="1.0" encoding="utf-8"?>
<p:tagLst xmlns:p="http://schemas.openxmlformats.org/presentationml/2006/main">
  <p:tag name="TABLE_ENDDRAG_ORIGIN_RECT" val="729*504"/>
  <p:tag name="TABLE_ENDDRAG_RECT" val="223*35*729*504"/>
</p:tagLst>
</file>

<file path=ppt/tags/tag42.xml><?xml version="1.0" encoding="utf-8"?>
<p:tagLst xmlns:p="http://schemas.openxmlformats.org/presentationml/2006/main">
  <p:tag name="ORD" val="o9"/>
</p:tagLst>
</file>

<file path=ppt/tags/tag43.xml><?xml version="1.0" encoding="utf-8"?>
<p:tagLst xmlns:p="http://schemas.openxmlformats.org/presentationml/2006/main">
  <p:tag name="ORD" val="o1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12061</Words>
  <Application>WPS 演示</Application>
  <PresentationFormat>宽屏</PresentationFormat>
  <Paragraphs>1937</Paragraphs>
  <Slides>34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Arial</vt:lpstr>
      <vt:lpstr>宋体</vt:lpstr>
      <vt:lpstr>Wingdings</vt:lpstr>
      <vt:lpstr>Arial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上官秀儿</cp:lastModifiedBy>
  <cp:revision>15</cp:revision>
  <dcterms:created xsi:type="dcterms:W3CDTF">2013-01-27T09:14:00Z</dcterms:created>
  <dcterms:modified xsi:type="dcterms:W3CDTF">2026-10-11T13:23:20Z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3C5D64DC8BE84D8FB3AB1F0E1A3A9016_12</vt:lpwstr>
  </property>
</Properties>
</file>